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9"/>
  </p:notesMasterIdLst>
  <p:sldIdLst>
    <p:sldId id="256" r:id="rId3"/>
    <p:sldId id="257" r:id="rId4"/>
    <p:sldId id="258" r:id="rId5"/>
    <p:sldId id="259" r:id="rId6"/>
    <p:sldId id="269" r:id="rId7"/>
    <p:sldId id="290" r:id="rId8"/>
    <p:sldId id="304" r:id="rId9"/>
    <p:sldId id="293" r:id="rId10"/>
    <p:sldId id="278" r:id="rId11"/>
    <p:sldId id="327" r:id="rId12"/>
    <p:sldId id="263" r:id="rId13"/>
    <p:sldId id="295" r:id="rId14"/>
    <p:sldId id="296" r:id="rId15"/>
    <p:sldId id="298" r:id="rId16"/>
    <p:sldId id="300" r:id="rId17"/>
    <p:sldId id="306" r:id="rId18"/>
    <p:sldId id="307" r:id="rId19"/>
    <p:sldId id="308" r:id="rId20"/>
    <p:sldId id="309" r:id="rId21"/>
    <p:sldId id="310" r:id="rId22"/>
    <p:sldId id="350" r:id="rId23"/>
    <p:sldId id="351" r:id="rId24"/>
    <p:sldId id="353" r:id="rId25"/>
    <p:sldId id="322" r:id="rId26"/>
    <p:sldId id="325" r:id="rId27"/>
    <p:sldId id="356" r:id="rId28"/>
    <p:sldId id="324" r:id="rId29"/>
    <p:sldId id="358" r:id="rId30"/>
    <p:sldId id="359" r:id="rId31"/>
    <p:sldId id="360" r:id="rId32"/>
    <p:sldId id="367" r:id="rId33"/>
    <p:sldId id="369" r:id="rId34"/>
    <p:sldId id="265" r:id="rId35"/>
    <p:sldId id="305" r:id="rId36"/>
    <p:sldId id="294" r:id="rId37"/>
    <p:sldId id="31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9.jpeg"/><Relationship Id="rId1"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1.jpeg"/><Relationship Id="rId1" Type="http://schemas.openxmlformats.org/officeDocument/2006/relationships/image" Target="../media/image30.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zh-CN">
                <a:latin typeface="+mn-lt"/>
                <a:ea typeface="+mn-ea"/>
                <a:cs typeface="+mn-cs"/>
                <a:sym typeface="+mn-ea"/>
              </a:rPr>
              <a:t>DUAL INPUT NON ISOLATED DC DC CONVERTER WITH VEHICLE TO GRID FEATURE</a:t>
            </a:r>
            <a:br>
              <a:rPr lang="en-US" altLang="zh-CN" kern="1200">
                <a:latin typeface="+mn-lt"/>
                <a:ea typeface="+mn-ea"/>
                <a:cs typeface="+mn-cs"/>
              </a:rPr>
            </a:br>
            <a:endParaRPr lang="en-US" dirty="0"/>
          </a:p>
        </p:txBody>
      </p:sp>
      <p:sp>
        <p:nvSpPr>
          <p:cNvPr id="3" name="Subtitle 2"/>
          <p:cNvSpPr>
            <a:spLocks noGrp="1"/>
          </p:cNvSpPr>
          <p:nvPr>
            <p:ph type="subTitle" idx="1"/>
          </p:nvPr>
        </p:nvSpPr>
        <p:spPr>
          <a:xfrm>
            <a:off x="1524000" y="3510280"/>
            <a:ext cx="5519420" cy="1655445"/>
          </a:xfrm>
        </p:spPr>
        <p:txBody>
          <a:bodyPr>
            <a:noAutofit/>
          </a:bodyPr>
          <a:lstStyle/>
          <a:p>
            <a:pPr algn="l"/>
            <a:r>
              <a:rPr lang="en-US" sz="2000">
                <a:latin typeface="Times New Roman" panose="02020603050405020304" charset="0"/>
                <a:cs typeface="Times New Roman" panose="02020603050405020304" charset="0"/>
              </a:rPr>
              <a:t>Project batch members:</a:t>
            </a:r>
            <a:endParaRPr lang="en-US" sz="2000">
              <a:latin typeface="Times New Roman" panose="02020603050405020304" charset="0"/>
              <a:cs typeface="Times New Roman" panose="02020603050405020304" charset="0"/>
            </a:endParaRPr>
          </a:p>
          <a:p>
            <a:pPr marL="342900" indent="-342900" algn="l">
              <a:buFont typeface="Arial" panose="020B0604020202020204" pitchFamily="34" charset="0"/>
              <a:buChar char="•"/>
            </a:pPr>
            <a:r>
              <a:rPr lang="en-US" sz="2000">
                <a:latin typeface="Times New Roman" panose="02020603050405020304" charset="0"/>
                <a:cs typeface="Times New Roman" panose="02020603050405020304" charset="0"/>
              </a:rPr>
              <a:t>Abhinand UD	               -</a:t>
            </a:r>
            <a:r>
              <a:rPr lang="en-IN" altLang="en-US" sz="2000">
                <a:latin typeface="Times New Roman" panose="02020603050405020304" charset="0"/>
                <a:cs typeface="Times New Roman" panose="02020603050405020304" charset="0"/>
              </a:rPr>
              <a:t> PRN19EE0</a:t>
            </a:r>
            <a:r>
              <a:rPr lang="en-US" sz="2000">
                <a:latin typeface="Times New Roman" panose="02020603050405020304" charset="0"/>
                <a:cs typeface="Times New Roman" panose="02020603050405020304" charset="0"/>
              </a:rPr>
              <a:t>02</a:t>
            </a:r>
            <a:endParaRPr lang="en-US" sz="2000">
              <a:latin typeface="Times New Roman" panose="02020603050405020304" charset="0"/>
              <a:cs typeface="Times New Roman" panose="02020603050405020304" charset="0"/>
            </a:endParaRPr>
          </a:p>
          <a:p>
            <a:pPr marL="342900" indent="-342900" algn="l">
              <a:buFont typeface="Arial" panose="020B0604020202020204" pitchFamily="34" charset="0"/>
              <a:buChar char="•"/>
            </a:pPr>
            <a:r>
              <a:rPr lang="en-US" sz="2000">
                <a:latin typeface="Times New Roman" panose="02020603050405020304" charset="0"/>
                <a:cs typeface="Times New Roman" panose="02020603050405020304" charset="0"/>
              </a:rPr>
              <a:t>Muhammed Aslam A    -</a:t>
            </a:r>
            <a:r>
              <a:rPr lang="en-IN" altLang="en-US" sz="2000">
                <a:latin typeface="Times New Roman" panose="02020603050405020304" charset="0"/>
                <a:cs typeface="Times New Roman" panose="02020603050405020304" charset="0"/>
              </a:rPr>
              <a:t> PRN19EE0</a:t>
            </a:r>
            <a:r>
              <a:rPr lang="en-US" sz="2000">
                <a:latin typeface="Times New Roman" panose="02020603050405020304" charset="0"/>
                <a:cs typeface="Times New Roman" panose="02020603050405020304" charset="0"/>
              </a:rPr>
              <a:t>30</a:t>
            </a:r>
            <a:endParaRPr lang="en-US" sz="2000">
              <a:latin typeface="Times New Roman" panose="02020603050405020304" charset="0"/>
              <a:cs typeface="Times New Roman" panose="02020603050405020304" charset="0"/>
            </a:endParaRPr>
          </a:p>
          <a:p>
            <a:pPr marL="342900" indent="-342900" algn="l">
              <a:buFont typeface="Arial" panose="020B0604020202020204" pitchFamily="34" charset="0"/>
              <a:buChar char="•"/>
            </a:pPr>
            <a:r>
              <a:rPr lang="en-US" sz="2000">
                <a:latin typeface="Times New Roman" panose="02020603050405020304" charset="0"/>
                <a:cs typeface="Times New Roman" panose="02020603050405020304" charset="0"/>
              </a:rPr>
              <a:t>Sreehari T                     -</a:t>
            </a:r>
            <a:r>
              <a:rPr lang="en-IN" altLang="en-US" sz="2000">
                <a:latin typeface="Times New Roman" panose="02020603050405020304" charset="0"/>
                <a:cs typeface="Times New Roman" panose="02020603050405020304" charset="0"/>
              </a:rPr>
              <a:t> PRN19EE0</a:t>
            </a:r>
            <a:r>
              <a:rPr lang="en-US" sz="2000">
                <a:latin typeface="Times New Roman" panose="02020603050405020304" charset="0"/>
                <a:cs typeface="Times New Roman" panose="02020603050405020304" charset="0"/>
              </a:rPr>
              <a:t>43</a:t>
            </a:r>
            <a:endParaRPr lang="en-US" sz="2000">
              <a:latin typeface="Times New Roman" panose="02020603050405020304" charset="0"/>
              <a:cs typeface="Times New Roman" panose="02020603050405020304" charset="0"/>
            </a:endParaRPr>
          </a:p>
          <a:p>
            <a:pPr marL="342900" indent="-342900" algn="l">
              <a:buFont typeface="Arial" panose="020B0604020202020204" pitchFamily="34" charset="0"/>
              <a:buChar char="•"/>
            </a:pPr>
            <a:r>
              <a:rPr lang="en-US" sz="2000">
                <a:latin typeface="Times New Roman" panose="02020603050405020304" charset="0"/>
                <a:cs typeface="Times New Roman" panose="02020603050405020304" charset="0"/>
              </a:rPr>
              <a:t>Thanveer Shahal          -</a:t>
            </a:r>
            <a:r>
              <a:rPr lang="en-IN" altLang="en-US" sz="2000">
                <a:latin typeface="Times New Roman" panose="02020603050405020304" charset="0"/>
                <a:cs typeface="Times New Roman" panose="02020603050405020304" charset="0"/>
              </a:rPr>
              <a:t> PRN19EE0</a:t>
            </a:r>
            <a:r>
              <a:rPr lang="en-US" sz="2000">
                <a:latin typeface="Times New Roman" panose="02020603050405020304" charset="0"/>
                <a:cs typeface="Times New Roman" panose="02020603050405020304" charset="0"/>
              </a:rPr>
              <a:t>44</a:t>
            </a:r>
            <a:endParaRPr lang="en-US" sz="2000">
              <a:latin typeface="Times New Roman" panose="02020603050405020304" charset="0"/>
              <a:cs typeface="Times New Roman" panose="02020603050405020304" charset="0"/>
            </a:endParaRPr>
          </a:p>
        </p:txBody>
      </p:sp>
      <p:sp>
        <p:nvSpPr>
          <p:cNvPr id="5" name="Text Box 4"/>
          <p:cNvSpPr txBox="1"/>
          <p:nvPr/>
        </p:nvSpPr>
        <p:spPr>
          <a:xfrm>
            <a:off x="7762875" y="3602355"/>
            <a:ext cx="1498600" cy="706755"/>
          </a:xfrm>
          <a:prstGeom prst="rect">
            <a:avLst/>
          </a:prstGeom>
          <a:noFill/>
        </p:spPr>
        <p:txBody>
          <a:bodyPr wrap="none" rtlCol="0">
            <a:spAutoFit/>
          </a:bodyPr>
          <a:p>
            <a:pPr algn="l"/>
            <a:r>
              <a:rPr lang="en-US" sz="2000">
                <a:latin typeface="Times New Roman" panose="02020603050405020304" charset="0"/>
                <a:cs typeface="Times New Roman" panose="02020603050405020304" charset="0"/>
              </a:rPr>
              <a:t>Guided by:</a:t>
            </a:r>
            <a:endParaRPr lang="en-US" sz="2000">
              <a:latin typeface="Times New Roman" panose="02020603050405020304" charset="0"/>
              <a:cs typeface="Times New Roman" panose="02020603050405020304" charset="0"/>
            </a:endParaRPr>
          </a:p>
          <a:p>
            <a:r>
              <a:rPr lang="en-IN" altLang="en-US" sz="2000"/>
              <a:t>Mrs. Ajisha S</a:t>
            </a:r>
            <a:endParaRPr lang="en-IN" alt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62560"/>
            <a:ext cx="10515600" cy="1052830"/>
          </a:xfrm>
        </p:spPr>
        <p:txBody>
          <a:bodyPr/>
          <a:p>
            <a:pPr algn="ctr"/>
            <a:r>
              <a:rPr lang="en-IN" altLang="en-US" sz="4000">
                <a:latin typeface="Times New Roman" panose="02020603050405020304" charset="0"/>
                <a:sym typeface="+mn-ea"/>
              </a:rPr>
              <a:t>CONTENTS</a:t>
            </a:r>
            <a:endParaRPr lang="en-US" sz="4000"/>
          </a:p>
        </p:txBody>
      </p:sp>
      <p:sp>
        <p:nvSpPr>
          <p:cNvPr id="3" name="Content Placeholder 2"/>
          <p:cNvSpPr>
            <a:spLocks noGrp="1"/>
          </p:cNvSpPr>
          <p:nvPr>
            <p:ph idx="1"/>
          </p:nvPr>
        </p:nvSpPr>
        <p:spPr>
          <a:xfrm>
            <a:off x="838200" y="1260475"/>
            <a:ext cx="10515600" cy="5051425"/>
          </a:xfrm>
        </p:spPr>
        <p:txBody>
          <a:bodyPr>
            <a:normAutofit fontScale="80000"/>
          </a:bodyPr>
          <a:p>
            <a:r>
              <a:rPr lang="en-US" sz="2400">
                <a:latin typeface="Times New Roman" panose="02020603050405020304" charset="0"/>
                <a:cs typeface="Times New Roman" panose="02020603050405020304" charset="0"/>
              </a:rPr>
              <a:t>Introduction</a:t>
            </a:r>
            <a:r>
              <a:rPr lang="en-IN" alt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Literature review</a:t>
            </a:r>
            <a:r>
              <a:rPr lang="en-IN" alt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Problem identification</a:t>
            </a:r>
            <a:r>
              <a:rPr lang="en-IN" alt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Objectives</a:t>
            </a:r>
            <a:r>
              <a:rPr lang="en-IN" alt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Existing system</a:t>
            </a:r>
            <a:r>
              <a:rPr lang="en-IN" alt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Proposed system</a:t>
            </a:r>
            <a:r>
              <a:rPr lang="en-IN" alt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Component design						</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Simulink model</a:t>
            </a:r>
            <a:r>
              <a:rPr lang="en-IN" altLang="en-US" sz="2400">
                <a:latin typeface="Times New Roman" panose="02020603050405020304" charset="0"/>
                <a:cs typeface="Times New Roman" panose="02020603050405020304" charset="0"/>
              </a:rPr>
              <a:t> and results					</a:t>
            </a:r>
            <a:endParaRPr lang="en-IN"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Hardware implementation and results						</a:t>
            </a:r>
            <a:endParaRPr lang="en-IN"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Estimate							</a:t>
            </a:r>
            <a:endParaRPr lang="en-IN"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Advantages							</a:t>
            </a:r>
            <a:endParaRPr lang="en-IN"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Applications							</a:t>
            </a:r>
            <a:endParaRPr lang="en-IN"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References							</a:t>
            </a:r>
            <a:endParaRPr lang="en-IN" altLang="en-US" sz="240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zh-CN">
                <a:latin typeface="Times New Roman" panose="02020603050405020304" charset="0"/>
                <a:sym typeface="+mn-ea"/>
              </a:rPr>
              <a:t>INTRODUCTION</a:t>
            </a:r>
            <a:br>
              <a:rPr lang="en-US" altLang="zh-CN" b="1">
                <a:latin typeface="Times New Roman" panose="02020603050405020304" charset="0"/>
              </a:rPr>
            </a:br>
            <a:endParaRPr lang="en-US"/>
          </a:p>
        </p:txBody>
      </p:sp>
      <p:sp>
        <p:nvSpPr>
          <p:cNvPr id="3" name="Content Placeholder 2"/>
          <p:cNvSpPr>
            <a:spLocks noGrp="1"/>
          </p:cNvSpPr>
          <p:nvPr>
            <p:ph idx="1"/>
          </p:nvPr>
        </p:nvSpPr>
        <p:spPr/>
        <p:txBody>
          <a:bodyPr/>
          <a:p>
            <a:r>
              <a:rPr lang="en-US" altLang="zh-CN" sz="2400">
                <a:latin typeface="Times New Roman" panose="02020603050405020304" charset="0"/>
                <a:sym typeface="+mn-ea"/>
              </a:rPr>
              <a:t>Throughout the world, the focus is given for developing suitable technologies to provide clean energy to protect the</a:t>
            </a:r>
            <a:r>
              <a:rPr lang="en-IN" altLang="en-US" sz="2400">
                <a:latin typeface="Times New Roman" panose="02020603050405020304" charset="0"/>
                <a:sym typeface="+mn-ea"/>
              </a:rPr>
              <a:t> </a:t>
            </a:r>
            <a:r>
              <a:rPr lang="en-US" altLang="zh-CN" sz="2400">
                <a:latin typeface="Times New Roman" panose="02020603050405020304" charset="0"/>
                <a:sym typeface="+mn-ea"/>
              </a:rPr>
              <a:t>environment</a:t>
            </a:r>
            <a:endParaRPr lang="en-US" altLang="zh-CN" sz="2400">
              <a:latin typeface="Times New Roman" panose="02020603050405020304" charset="0"/>
            </a:endParaRPr>
          </a:p>
          <a:p>
            <a:r>
              <a:rPr lang="en-US" altLang="zh-CN" sz="2400">
                <a:latin typeface="Times New Roman" panose="02020603050405020304" charset="0"/>
                <a:sym typeface="+mn-ea"/>
              </a:rPr>
              <a:t>Conventionally,</a:t>
            </a:r>
            <a:r>
              <a:rPr lang="en-IN" altLang="en-US" sz="2400">
                <a:latin typeface="Times New Roman" panose="02020603050405020304" charset="0"/>
                <a:sym typeface="+mn-ea"/>
              </a:rPr>
              <a:t> </a:t>
            </a:r>
            <a:r>
              <a:rPr lang="en-US" altLang="zh-CN" sz="2400">
                <a:latin typeface="Times New Roman" panose="02020603050405020304" charset="0"/>
                <a:sym typeface="+mn-ea"/>
              </a:rPr>
              <a:t>parallel-connected single input-single output DC-DC </a:t>
            </a:r>
            <a:r>
              <a:rPr lang="en-IN" altLang="en-US" sz="2400">
                <a:latin typeface="Times New Roman" panose="02020603050405020304" charset="0"/>
                <a:sym typeface="+mn-ea"/>
              </a:rPr>
              <a:t> </a:t>
            </a:r>
            <a:r>
              <a:rPr lang="en-US" altLang="zh-CN" sz="2400">
                <a:latin typeface="Times New Roman" panose="02020603050405020304" charset="0"/>
                <a:sym typeface="+mn-ea"/>
              </a:rPr>
              <a:t>converters are used in </a:t>
            </a:r>
            <a:r>
              <a:rPr lang="en-IN" altLang="en-US" sz="2400">
                <a:latin typeface="Times New Roman" panose="02020603050405020304" charset="0"/>
                <a:sym typeface="+mn-ea"/>
              </a:rPr>
              <a:t>hybrid energy system</a:t>
            </a:r>
            <a:endParaRPr lang="en-US" altLang="zh-CN" sz="2400">
              <a:latin typeface="Times New Roman" panose="02020603050405020304" charset="0"/>
            </a:endParaRPr>
          </a:p>
          <a:p>
            <a:r>
              <a:rPr lang="en-US" altLang="zh-CN" sz="2400">
                <a:latin typeface="Times New Roman" panose="02020603050405020304" charset="0"/>
                <a:sym typeface="+mn-ea"/>
              </a:rPr>
              <a:t>The dedicated reactive elements, semiconductor switches and controller of each parallel-connected systems lead to increase the cost, size and complexity. </a:t>
            </a:r>
            <a:endParaRPr lang="en-US" altLang="zh-CN" sz="2400">
              <a:latin typeface="Times New Roman" panose="02020603050405020304" charset="0"/>
            </a:endParaRPr>
          </a:p>
          <a:p>
            <a:r>
              <a:rPr lang="en-US" altLang="zh-CN" sz="2400">
                <a:latin typeface="Times New Roman" panose="02020603050405020304" charset="0"/>
                <a:sym typeface="+mn-ea"/>
              </a:rPr>
              <a:t>To overcome these demerits, the 'Multi-Input</a:t>
            </a:r>
            <a:r>
              <a:rPr lang="en-IN" altLang="en-US" sz="2400">
                <a:latin typeface="Times New Roman" panose="02020603050405020304" charset="0"/>
                <a:sym typeface="+mn-ea"/>
              </a:rPr>
              <a:t> </a:t>
            </a:r>
            <a:r>
              <a:rPr lang="en-US" altLang="zh-CN" sz="2400">
                <a:latin typeface="Times New Roman" panose="02020603050405020304" charset="0"/>
                <a:sym typeface="+mn-ea"/>
              </a:rPr>
              <a:t>single output DC-DC Converters</a:t>
            </a:r>
            <a:r>
              <a:rPr lang="en-IN" altLang="en-US" sz="2400">
                <a:latin typeface="Times New Roman" panose="02020603050405020304" charset="0"/>
                <a:sym typeface="+mn-ea"/>
              </a:rPr>
              <a:t> are introduced.</a:t>
            </a:r>
            <a:endParaRPr lang="en-IN" altLang="en-US" sz="2400">
              <a:latin typeface="Times New Roman" panose="02020603050405020304" charset="0"/>
              <a:sym typeface="+mn-ea"/>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zh-CN">
                <a:latin typeface="Times New Roman" panose="02020603050405020304" charset="0"/>
                <a:sym typeface="+mn-ea"/>
              </a:rPr>
              <a:t>LITERATURE REVIEW</a:t>
            </a:r>
            <a:br>
              <a:rPr lang="en-US" altLang="zh-CN" b="1">
                <a:latin typeface="Times New Roman" panose="02020603050405020304" charset="0"/>
              </a:rPr>
            </a:br>
            <a:endParaRPr lang="en-US"/>
          </a:p>
        </p:txBody>
      </p:sp>
      <p:sp>
        <p:nvSpPr>
          <p:cNvPr id="3" name="Content Placeholder 2"/>
          <p:cNvSpPr>
            <a:spLocks noGrp="1"/>
          </p:cNvSpPr>
          <p:nvPr>
            <p:ph sz="half" idx="1"/>
          </p:nvPr>
        </p:nvSpPr>
        <p:spPr/>
        <p:txBody>
          <a:bodyPr>
            <a:normAutofit lnSpcReduction="10000"/>
          </a:bodyPr>
          <a:p>
            <a:pPr marL="457200" lvl="1" indent="0" algn="l">
              <a:buNone/>
            </a:pPr>
            <a:endParaRPr lang="en-US" sz="1900">
              <a:latin typeface="Times New Roman" panose="02020603050405020304" charset="0"/>
              <a:cs typeface="Times New Roman" panose="02020603050405020304" charset="0"/>
            </a:endParaRPr>
          </a:p>
          <a:p>
            <a:endParaRPr lang="en-US" sz="2000">
              <a:latin typeface="Times New Roman" panose="02020603050405020304" charset="0"/>
              <a:cs typeface="Times New Roman" panose="02020603050405020304" charset="0"/>
              <a:sym typeface="+mn-ea"/>
            </a:endParaRPr>
          </a:p>
          <a:p>
            <a:pPr>
              <a:buNone/>
            </a:pPr>
            <a:endParaRPr lang="en-US" sz="2000" b="0">
              <a:solidFill>
                <a:schemeClr val="tx1"/>
              </a:solidFill>
              <a:latin typeface="Times New Roman" panose="02020603050405020304" charset="0"/>
              <a:cs typeface="Times New Roman" panose="02020603050405020304" charset="0"/>
            </a:endParaRPr>
          </a:p>
          <a:p>
            <a:pPr>
              <a:buNone/>
            </a:pPr>
            <a:endParaRPr lang="en-US" sz="2400" b="0">
              <a:solidFill>
                <a:schemeClr val="tx1"/>
              </a:solidFill>
              <a:latin typeface="Times New Roman" panose="02020603050405020304" charset="0"/>
              <a:cs typeface="Times New Roman" panose="02020603050405020304" charset="0"/>
            </a:endParaRPr>
          </a:p>
          <a:p>
            <a:pPr>
              <a:buNone/>
            </a:pPr>
            <a:endParaRPr lang="en-US" sz="2400"/>
          </a:p>
        </p:txBody>
      </p:sp>
      <p:graphicFrame>
        <p:nvGraphicFramePr>
          <p:cNvPr id="5" name="Content Placeholder 4"/>
          <p:cNvGraphicFramePr/>
          <p:nvPr>
            <p:ph sz="half" idx="2"/>
          </p:nvPr>
        </p:nvGraphicFramePr>
        <p:xfrm>
          <a:off x="838200" y="1095375"/>
          <a:ext cx="10617835" cy="5415280"/>
        </p:xfrm>
        <a:graphic>
          <a:graphicData uri="http://schemas.openxmlformats.org/drawingml/2006/table">
            <a:tbl>
              <a:tblPr firstRow="1" bandRow="1">
                <a:tableStyleId>{5C22544A-7EE6-4342-B048-85BDC9FD1C3A}</a:tableStyleId>
              </a:tblPr>
              <a:tblGrid>
                <a:gridCol w="3853180"/>
                <a:gridCol w="6764655"/>
              </a:tblGrid>
              <a:tr h="365760">
                <a:tc>
                  <a:txBody>
                    <a:bodyPr/>
                    <a:p>
                      <a:pPr>
                        <a:buNone/>
                      </a:pPr>
                      <a:r>
                        <a:rPr lang="en-US">
                          <a:solidFill>
                            <a:schemeClr val="tx1"/>
                          </a:solidFill>
                          <a:latin typeface="Times New Roman" panose="02020603050405020304" charset="0"/>
                          <a:cs typeface="Times New Roman" panose="02020603050405020304" charset="0"/>
                        </a:rPr>
                        <a:t>Paper Title</a:t>
                      </a:r>
                      <a:endParaRPr lang="en-US">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solidFill>
                            <a:schemeClr val="tx1"/>
                          </a:solidFill>
                          <a:latin typeface="Times New Roman" panose="02020603050405020304" charset="0"/>
                          <a:cs typeface="Times New Roman" panose="02020603050405020304" charset="0"/>
                        </a:rPr>
                        <a:t>Objectives</a:t>
                      </a:r>
                      <a:endParaRPr lang="en-US">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2078990">
                <a:tc>
                  <a:txBody>
                    <a:bodyPr/>
                    <a:p>
                      <a:pPr algn="l"/>
                      <a:r>
                        <a:rPr lang="en-IN" sz="1800" dirty="0">
                          <a:latin typeface="Times New Roman" panose="02020603050405020304" charset="0"/>
                          <a:sym typeface="+mn-ea"/>
                        </a:rPr>
                        <a:t>S. K. </a:t>
                      </a:r>
                      <a:r>
                        <a:rPr lang="en-IN" sz="1800" dirty="0" err="1">
                          <a:latin typeface="Times New Roman" panose="02020603050405020304" charset="0"/>
                          <a:sym typeface="+mn-ea"/>
                        </a:rPr>
                        <a:t>Haghighian</a:t>
                      </a:r>
                      <a:r>
                        <a:rPr lang="en-IN" sz="1800" dirty="0">
                          <a:latin typeface="Times New Roman" panose="02020603050405020304" charset="0"/>
                          <a:sym typeface="+mn-ea"/>
                        </a:rPr>
                        <a:t>, S. </a:t>
                      </a:r>
                      <a:r>
                        <a:rPr lang="en-IN" sz="1800" dirty="0" err="1">
                          <a:latin typeface="Times New Roman" panose="02020603050405020304" charset="0"/>
                          <a:sym typeface="+mn-ea"/>
                        </a:rPr>
                        <a:t>Tohidi</a:t>
                      </a:r>
                      <a:r>
                        <a:rPr lang="en-IN" sz="1800" dirty="0">
                          <a:latin typeface="Times New Roman" panose="02020603050405020304" charset="0"/>
                          <a:sym typeface="+mn-ea"/>
                        </a:rPr>
                        <a:t>, M. R. </a:t>
                      </a:r>
                      <a:r>
                        <a:rPr lang="en-IN" sz="1800" dirty="0" err="1">
                          <a:latin typeface="Times New Roman" panose="02020603050405020304" charset="0"/>
                          <a:sym typeface="+mn-ea"/>
                        </a:rPr>
                        <a:t>Feyzi</a:t>
                      </a:r>
                      <a:r>
                        <a:rPr lang="en-IN" sz="1800" dirty="0">
                          <a:latin typeface="Times New Roman" panose="02020603050405020304" charset="0"/>
                          <a:sym typeface="+mn-ea"/>
                        </a:rPr>
                        <a:t>, and M. </a:t>
                      </a:r>
                      <a:r>
                        <a:rPr lang="en-IN" sz="1800" dirty="0" err="1">
                          <a:latin typeface="Times New Roman" panose="02020603050405020304" charset="0"/>
                          <a:sym typeface="+mn-ea"/>
                        </a:rPr>
                        <a:t>Sabahi</a:t>
                      </a:r>
                      <a:r>
                        <a:rPr lang="en-IN" sz="1800" dirty="0">
                          <a:latin typeface="Times New Roman" panose="02020603050405020304" charset="0"/>
                          <a:sym typeface="+mn-ea"/>
                        </a:rPr>
                        <a:t>, “Design and analysis of a novel SEPIC-based multi-input DC/DC converter,” IET Power Electron., vol. 10, no. 12, pp. 1393–1402, 2017.</a:t>
                      </a:r>
                      <a:endParaRPr lang="en-US">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IN" sz="1800" dirty="0">
                          <a:latin typeface="Times New Roman" panose="02020603050405020304" charset="0"/>
                          <a:cs typeface="Times New Roman" panose="02020603050405020304" charset="0"/>
                          <a:sym typeface="+mn-ea"/>
                        </a:rPr>
                        <a:t>A novel single-ended primary-inductor converter (SEPIC)-based multi-input DC/DC converter is presented. The structure inherits all the advantages of the SEPIC converter such as step-up/down capability without inverting the polarity of the regulated output voltage. It is suitable to charge–discharge the ESS and to extract maximum power from the photovoltaic panels.</a:t>
                      </a:r>
                      <a:endParaRPr lang="en-US">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2970530">
                <a:tc>
                  <a:txBody>
                    <a:bodyPr/>
                    <a:p>
                      <a:pPr>
                        <a:buNone/>
                      </a:pPr>
                      <a:r>
                        <a:rPr lang="en-US" sz="1800" dirty="0">
                          <a:solidFill>
                            <a:schemeClr val="tx1"/>
                          </a:solidFill>
                          <a:latin typeface="Times New Roman" panose="02020603050405020304" charset="0"/>
                          <a:sym typeface="+mn-ea"/>
                        </a:rPr>
                        <a:t>M. </a:t>
                      </a:r>
                      <a:r>
                        <a:rPr lang="en-US" sz="1800" dirty="0" err="1">
                          <a:solidFill>
                            <a:schemeClr val="tx1"/>
                          </a:solidFill>
                          <a:latin typeface="Times New Roman" panose="02020603050405020304" charset="0"/>
                          <a:sym typeface="+mn-ea"/>
                        </a:rPr>
                        <a:t>Zandi</a:t>
                      </a:r>
                      <a:r>
                        <a:rPr lang="en-US" sz="1800" dirty="0">
                          <a:solidFill>
                            <a:schemeClr val="tx1"/>
                          </a:solidFill>
                          <a:latin typeface="Times New Roman" panose="02020603050405020304" charset="0"/>
                          <a:sym typeface="+mn-ea"/>
                        </a:rPr>
                        <a:t>, A. </a:t>
                      </a:r>
                      <a:r>
                        <a:rPr lang="en-US" sz="1800" dirty="0" err="1">
                          <a:solidFill>
                            <a:schemeClr val="tx1"/>
                          </a:solidFill>
                          <a:latin typeface="Times New Roman" panose="02020603050405020304" charset="0"/>
                          <a:sym typeface="+mn-ea"/>
                        </a:rPr>
                        <a:t>Payman</a:t>
                      </a:r>
                      <a:r>
                        <a:rPr lang="en-US" sz="1800" dirty="0">
                          <a:solidFill>
                            <a:schemeClr val="tx1"/>
                          </a:solidFill>
                          <a:latin typeface="Times New Roman" panose="02020603050405020304" charset="0"/>
                          <a:sym typeface="+mn-ea"/>
                        </a:rPr>
                        <a:t>, J. P. Martin, S. </a:t>
                      </a:r>
                      <a:r>
                        <a:rPr lang="en-US" sz="1800" dirty="0" err="1">
                          <a:solidFill>
                            <a:schemeClr val="tx1"/>
                          </a:solidFill>
                          <a:latin typeface="Times New Roman" panose="02020603050405020304" charset="0"/>
                          <a:sym typeface="+mn-ea"/>
                        </a:rPr>
                        <a:t>Pierfederici</a:t>
                      </a:r>
                      <a:r>
                        <a:rPr lang="en-US" sz="1800" dirty="0">
                          <a:solidFill>
                            <a:schemeClr val="tx1"/>
                          </a:solidFill>
                          <a:latin typeface="Times New Roman" panose="02020603050405020304" charset="0"/>
                          <a:sym typeface="+mn-ea"/>
                        </a:rPr>
                        <a:t>, B. </a:t>
                      </a:r>
                      <a:r>
                        <a:rPr lang="en-US" sz="1800" dirty="0" err="1">
                          <a:solidFill>
                            <a:schemeClr val="tx1"/>
                          </a:solidFill>
                          <a:latin typeface="Times New Roman" panose="02020603050405020304" charset="0"/>
                          <a:sym typeface="+mn-ea"/>
                        </a:rPr>
                        <a:t>Davat</a:t>
                      </a:r>
                      <a:r>
                        <a:rPr lang="en-US" sz="1800" dirty="0">
                          <a:solidFill>
                            <a:schemeClr val="tx1"/>
                          </a:solidFill>
                          <a:latin typeface="Times New Roman" panose="02020603050405020304" charset="0"/>
                          <a:sym typeface="+mn-ea"/>
                        </a:rPr>
                        <a:t>, and </a:t>
                      </a:r>
                      <a:r>
                        <a:rPr lang="en-US" sz="1800" dirty="0" err="1">
                          <a:solidFill>
                            <a:schemeClr val="tx1"/>
                          </a:solidFill>
                          <a:latin typeface="Times New Roman" panose="02020603050405020304" charset="0"/>
                          <a:sym typeface="+mn-ea"/>
                        </a:rPr>
                        <a:t>F.Meibody</a:t>
                      </a:r>
                      <a:r>
                        <a:rPr lang="en-IN" sz="1800" dirty="0">
                          <a:solidFill>
                            <a:schemeClr val="tx1"/>
                          </a:solidFill>
                          <a:latin typeface="Times New Roman" panose="02020603050405020304" charset="0"/>
                          <a:sym typeface="+mn-ea"/>
                        </a:rPr>
                        <a:t> </a:t>
                      </a:r>
                      <a:r>
                        <a:rPr lang="en-US" sz="1800" dirty="0" err="1">
                          <a:solidFill>
                            <a:schemeClr val="tx1"/>
                          </a:solidFill>
                          <a:latin typeface="Times New Roman" panose="02020603050405020304" charset="0"/>
                          <a:sym typeface="+mn-ea"/>
                        </a:rPr>
                        <a:t>Tabar</a:t>
                      </a:r>
                      <a:r>
                        <a:rPr lang="en-US" sz="1800" dirty="0">
                          <a:solidFill>
                            <a:schemeClr val="tx1"/>
                          </a:solidFill>
                          <a:latin typeface="Times New Roman" panose="02020603050405020304" charset="0"/>
                          <a:sym typeface="+mn-ea"/>
                        </a:rPr>
                        <a:t>,</a:t>
                      </a:r>
                      <a:r>
                        <a:rPr lang="en-IN" sz="1800" dirty="0">
                          <a:solidFill>
                            <a:schemeClr val="tx1"/>
                          </a:solidFill>
                          <a:latin typeface="Times New Roman" panose="02020603050405020304" charset="0"/>
                          <a:sym typeface="+mn-ea"/>
                        </a:rPr>
                        <a:t> </a:t>
                      </a:r>
                      <a:r>
                        <a:rPr lang="en-US" sz="1800" dirty="0">
                          <a:solidFill>
                            <a:schemeClr val="tx1"/>
                          </a:solidFill>
                          <a:latin typeface="Times New Roman" panose="02020603050405020304" charset="0"/>
                          <a:sym typeface="+mn-ea"/>
                        </a:rPr>
                        <a:t>“</a:t>
                      </a:r>
                      <a:r>
                        <a:rPr lang="en-US" sz="1800" dirty="0" err="1">
                          <a:solidFill>
                            <a:schemeClr val="tx1"/>
                          </a:solidFill>
                          <a:latin typeface="Times New Roman" panose="02020603050405020304" charset="0"/>
                          <a:sym typeface="+mn-ea"/>
                        </a:rPr>
                        <a:t>Energymanagementof</a:t>
                      </a:r>
                      <a:r>
                        <a:rPr lang="en-US" sz="1800" dirty="0">
                          <a:solidFill>
                            <a:schemeClr val="tx1"/>
                          </a:solidFill>
                          <a:latin typeface="Times New Roman" panose="02020603050405020304" charset="0"/>
                          <a:sym typeface="+mn-ea"/>
                        </a:rPr>
                        <a:t> a fuel cell/</a:t>
                      </a:r>
                      <a:r>
                        <a:rPr lang="en-US" sz="1800" dirty="0" err="1">
                          <a:solidFill>
                            <a:schemeClr val="tx1"/>
                          </a:solidFill>
                          <a:latin typeface="Times New Roman" panose="02020603050405020304" charset="0"/>
                          <a:sym typeface="+mn-ea"/>
                        </a:rPr>
                        <a:t>supercapacitor</a:t>
                      </a:r>
                      <a:r>
                        <a:rPr lang="en-US" sz="1800" dirty="0">
                          <a:solidFill>
                            <a:schemeClr val="tx1"/>
                          </a:solidFill>
                          <a:latin typeface="Times New Roman" panose="02020603050405020304" charset="0"/>
                          <a:sym typeface="+mn-ea"/>
                        </a:rPr>
                        <a:t>/battery power source for electric vehicular applications,” IEEE Trans. </a:t>
                      </a:r>
                      <a:r>
                        <a:rPr lang="en-US" sz="1800" dirty="0" err="1">
                          <a:solidFill>
                            <a:schemeClr val="tx1"/>
                          </a:solidFill>
                          <a:latin typeface="Times New Roman" panose="02020603050405020304" charset="0"/>
                          <a:sym typeface="+mn-ea"/>
                        </a:rPr>
                        <a:t>Veh</a:t>
                      </a:r>
                      <a:r>
                        <a:rPr lang="en-US" sz="1800" dirty="0">
                          <a:solidFill>
                            <a:schemeClr val="tx1"/>
                          </a:solidFill>
                          <a:latin typeface="Times New Roman" panose="02020603050405020304" charset="0"/>
                          <a:sym typeface="+mn-ea"/>
                        </a:rPr>
                        <a:t>. Technol., vol. 60, no. 2, pp. 433–443, 2011</a:t>
                      </a:r>
                      <a:endParaRPr lang="en-IN" sz="1800" dirty="0"/>
                    </a:p>
                    <a:p>
                      <a:pPr>
                        <a:buNone/>
                      </a:pPr>
                      <a:endParaRPr lang="en-US">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IN" sz="1800" dirty="0">
                          <a:latin typeface="Times New Roman" panose="02020603050405020304" charset="0"/>
                          <a:sym typeface="+mn-ea"/>
                        </a:rPr>
                        <a:t>An energy management method in an electrical hybrid power source (EHPS) for electric vehicular applications. The method is based on the flatness control technique (FCT) and fuzzy logic control (FLC).The main property of this strategy is that the energy management in the power source is carried out with a single general control algorithm in different operating modes, consequently avoiding any algorithm commutation</a:t>
                      </a:r>
                      <a:endParaRPr lang="en-US">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zh-CN" sz="4000">
                <a:latin typeface="Times New Roman" panose="02020603050405020304" charset="0"/>
                <a:sym typeface="+mn-ea"/>
              </a:rPr>
              <a:t>LITERATURE REVIEW</a:t>
            </a:r>
            <a:endParaRPr lang="en-US" sz="4000"/>
          </a:p>
        </p:txBody>
      </p:sp>
      <p:graphicFrame>
        <p:nvGraphicFramePr>
          <p:cNvPr id="5" name="Content Placeholder 4"/>
          <p:cNvGraphicFramePr/>
          <p:nvPr>
            <p:ph idx="1"/>
          </p:nvPr>
        </p:nvGraphicFramePr>
        <p:xfrm>
          <a:off x="838200" y="1318895"/>
          <a:ext cx="10689590" cy="4643755"/>
        </p:xfrm>
        <a:graphic>
          <a:graphicData uri="http://schemas.openxmlformats.org/drawingml/2006/table">
            <a:tbl>
              <a:tblPr firstRow="1" bandRow="1">
                <a:tableStyleId>{5C22544A-7EE6-4342-B048-85BDC9FD1C3A}</a:tableStyleId>
              </a:tblPr>
              <a:tblGrid>
                <a:gridCol w="3855085"/>
                <a:gridCol w="6834505"/>
              </a:tblGrid>
              <a:tr h="445135">
                <a:tc>
                  <a:txBody>
                    <a:bodyPr/>
                    <a:p>
                      <a:pPr>
                        <a:buNone/>
                      </a:pPr>
                      <a:r>
                        <a:rPr lang="en-US" sz="1800">
                          <a:solidFill>
                            <a:schemeClr val="tx1"/>
                          </a:solidFill>
                          <a:latin typeface="Times New Roman" panose="02020603050405020304" charset="0"/>
                          <a:cs typeface="Times New Roman" panose="02020603050405020304" charset="0"/>
                          <a:sym typeface="+mn-ea"/>
                        </a:rPr>
                        <a:t>Paper Title</a:t>
                      </a:r>
                      <a:endParaRPr lang="en-US" b="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sz="1800">
                          <a:solidFill>
                            <a:schemeClr val="tx1"/>
                          </a:solidFill>
                          <a:latin typeface="Times New Roman" panose="02020603050405020304" charset="0"/>
                          <a:cs typeface="Times New Roman" panose="02020603050405020304" charset="0"/>
                          <a:sym typeface="+mn-ea"/>
                        </a:rPr>
                        <a:t>Objectives</a:t>
                      </a:r>
                      <a:endParaRPr lang="en-US" b="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2252980">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sz="1800" dirty="0">
                          <a:latin typeface="Times New Roman" panose="02020603050405020304" charset="0"/>
                          <a:cs typeface="Times New Roman" panose="02020603050405020304" charset="0"/>
                          <a:sym typeface="+mn-ea"/>
                        </a:rPr>
                        <a:t>T. K. Santhosh and C. </a:t>
                      </a:r>
                      <a:r>
                        <a:rPr lang="en-US" sz="1800" dirty="0" err="1">
                          <a:latin typeface="Times New Roman" panose="02020603050405020304" charset="0"/>
                          <a:cs typeface="Times New Roman" panose="02020603050405020304" charset="0"/>
                          <a:sym typeface="+mn-ea"/>
                        </a:rPr>
                        <a:t>Govindaraju</a:t>
                      </a:r>
                      <a:r>
                        <a:rPr lang="en-US" sz="1800" dirty="0">
                          <a:latin typeface="Times New Roman" panose="02020603050405020304" charset="0"/>
                          <a:cs typeface="Times New Roman" panose="02020603050405020304" charset="0"/>
                          <a:sym typeface="+mn-ea"/>
                        </a:rPr>
                        <a:t>, “Dual input dual output power converter with one-step-ahead control for hybrid electric vehicle applications,” IET </a:t>
                      </a:r>
                      <a:r>
                        <a:rPr lang="en-US" sz="1800" dirty="0" err="1">
                          <a:latin typeface="Times New Roman" panose="02020603050405020304" charset="0"/>
                          <a:cs typeface="Times New Roman" panose="02020603050405020304" charset="0"/>
                          <a:sym typeface="+mn-ea"/>
                        </a:rPr>
                        <a:t>Electr</a:t>
                      </a:r>
                      <a:r>
                        <a:rPr lang="en-US" sz="1800" dirty="0">
                          <a:latin typeface="Times New Roman" panose="02020603050405020304" charset="0"/>
                          <a:cs typeface="Times New Roman" panose="02020603050405020304" charset="0"/>
                          <a:sym typeface="+mn-ea"/>
                        </a:rPr>
                        <a:t>. Syst. Transp., vol. 7, no. 3, pp. 190–200, 2017.</a:t>
                      </a:r>
                      <a:endParaRPr lang="en-US" b="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IN" sz="1800" dirty="0">
                          <a:solidFill>
                            <a:srgbClr val="1C1D1E"/>
                          </a:solidFill>
                          <a:effectLst/>
                          <a:latin typeface="Times New Roman" panose="02020603050405020304" charset="0"/>
                          <a:cs typeface="Times New Roman" panose="02020603050405020304" charset="0"/>
                          <a:sym typeface="+mn-ea"/>
                        </a:rPr>
                        <a:t>A simplified structure of dual input dual output (DIDO) with single-stage power conversion for hybrid electric vehicle accessory </a:t>
                      </a:r>
                      <a:r>
                        <a:rPr lang="en-IN" sz="1800" dirty="0" err="1">
                          <a:solidFill>
                            <a:srgbClr val="1C1D1E"/>
                          </a:solidFill>
                          <a:effectLst/>
                          <a:latin typeface="Times New Roman" panose="02020603050405020304" charset="0"/>
                          <a:cs typeface="Times New Roman" panose="02020603050405020304" charset="0"/>
                          <a:sym typeface="+mn-ea"/>
                        </a:rPr>
                        <a:t>applications.The</a:t>
                      </a:r>
                      <a:r>
                        <a:rPr lang="en-IN" sz="1800" dirty="0">
                          <a:solidFill>
                            <a:srgbClr val="1C1D1E"/>
                          </a:solidFill>
                          <a:effectLst/>
                          <a:latin typeface="Times New Roman" panose="02020603050405020304" charset="0"/>
                          <a:cs typeface="Times New Roman" panose="02020603050405020304" charset="0"/>
                          <a:sym typeface="+mn-ea"/>
                        </a:rPr>
                        <a:t> generic switch model-based DIDO is realised with power switches based on switch realisation </a:t>
                      </a:r>
                      <a:r>
                        <a:rPr lang="en-IN" sz="1800" dirty="0" err="1">
                          <a:solidFill>
                            <a:srgbClr val="1C1D1E"/>
                          </a:solidFill>
                          <a:effectLst/>
                          <a:latin typeface="Times New Roman" panose="02020603050405020304" charset="0"/>
                          <a:cs typeface="Times New Roman" panose="02020603050405020304" charset="0"/>
                          <a:sym typeface="+mn-ea"/>
                        </a:rPr>
                        <a:t>technique.A</a:t>
                      </a:r>
                      <a:r>
                        <a:rPr lang="en-IN" sz="1800" dirty="0">
                          <a:solidFill>
                            <a:srgbClr val="1C1D1E"/>
                          </a:solidFill>
                          <a:effectLst/>
                          <a:latin typeface="Times New Roman" panose="02020603050405020304" charset="0"/>
                          <a:cs typeface="Times New Roman" panose="02020603050405020304" charset="0"/>
                          <a:sym typeface="+mn-ea"/>
                        </a:rPr>
                        <a:t> one-step-ahead controller is used for inductor current control in conjunction with a mode selection logic to utilise its operating modes based on the availability of the sources and its protection</a:t>
                      </a:r>
                      <a:endParaRPr lang="en-US" b="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1945640">
                <a:tc>
                  <a:txBody>
                    <a:bodyPr/>
                    <a:p>
                      <a:pPr>
                        <a:buNone/>
                      </a:pPr>
                      <a:r>
                        <a:rPr lang="en-US" sz="1800" dirty="0">
                          <a:solidFill>
                            <a:schemeClr val="tx1"/>
                          </a:solidFill>
                          <a:latin typeface="Times New Roman" panose="02020603050405020304" charset="0"/>
                          <a:sym typeface="+mn-ea"/>
                        </a:rPr>
                        <a:t>D. Yang, M. Yang, and X. </a:t>
                      </a:r>
                      <a:r>
                        <a:rPr lang="en-US" sz="1800" dirty="0" err="1">
                          <a:solidFill>
                            <a:schemeClr val="tx1"/>
                          </a:solidFill>
                          <a:latin typeface="Times New Roman" panose="02020603050405020304" charset="0"/>
                          <a:sym typeface="+mn-ea"/>
                        </a:rPr>
                        <a:t>Ruan</a:t>
                      </a:r>
                      <a:r>
                        <a:rPr lang="en-US" sz="1800" dirty="0">
                          <a:solidFill>
                            <a:schemeClr val="tx1"/>
                          </a:solidFill>
                          <a:latin typeface="Times New Roman" panose="02020603050405020304" charset="0"/>
                          <a:sym typeface="+mn-ea"/>
                        </a:rPr>
                        <a:t>, “One-cycle control for a double-input DC/DC converter,” IEEE Trans. Power Electron., vol. 27, no. 11, pp. 4646–4655, 2012.</a:t>
                      </a:r>
                      <a:endParaRPr lang="en-US" b="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IN" sz="1800" dirty="0">
                          <a:solidFill>
                            <a:srgbClr val="333333"/>
                          </a:solidFill>
                          <a:effectLst/>
                          <a:latin typeface="Times New Roman" panose="02020603050405020304" charset="0"/>
                          <a:cs typeface="Times New Roman" panose="02020603050405020304" charset="0"/>
                          <a:sym typeface="+mn-ea"/>
                        </a:rPr>
                        <a:t>An one-cycle control (OCC) for double-input buck converter (DIBC) to eliminate the interactions of the control loops and, thus, to simplify the design of the controllers. The mode transition circuit is further proposed to realize seamless mode transition, according to the available renewable energy and the output power.</a:t>
                      </a:r>
                      <a:endParaRPr lang="en-IN" sz="1800" dirty="0">
                        <a:latin typeface="Times New Roman" panose="02020603050405020304" charset="0"/>
                        <a:cs typeface="Times New Roman" panose="02020603050405020304" charset="0"/>
                      </a:endParaRPr>
                    </a:p>
                    <a:p>
                      <a:pPr>
                        <a:buNone/>
                      </a:pPr>
                      <a:endParaRPr lang="en-US" b="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4000">
                <a:latin typeface="Times New Roman" panose="02020603050405020304" charset="0"/>
                <a:cs typeface="Times New Roman" panose="02020603050405020304" charset="0"/>
                <a:sym typeface="+mn-ea"/>
              </a:rPr>
              <a:t>OBJECTIVIES</a:t>
            </a:r>
            <a:endParaRPr lang="en-IN" altLang="en-US" sz="40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691005"/>
            <a:ext cx="10515600" cy="4462780"/>
          </a:xfrm>
        </p:spPr>
        <p:txBody>
          <a:bodyPr>
            <a:normAutofit lnSpcReduction="10000"/>
          </a:bodyPr>
          <a:p>
            <a:r>
              <a:rPr lang="en-IN" altLang="en-US" sz="2500">
                <a:latin typeface="Times New Roman" panose="02020603050405020304" charset="0"/>
                <a:cs typeface="Times New Roman" panose="02020603050405020304" charset="0"/>
              </a:rPr>
              <a:t>In conventional system, more number of DC-DC converters are needed for different modes of operation when connecting more than one source.</a:t>
            </a:r>
            <a:endParaRPr lang="en-IN" altLang="en-US" sz="2500">
              <a:latin typeface="Times New Roman" panose="02020603050405020304" charset="0"/>
              <a:cs typeface="Times New Roman" panose="02020603050405020304" charset="0"/>
            </a:endParaRPr>
          </a:p>
          <a:p>
            <a:r>
              <a:rPr lang="en-IN" altLang="en-US" sz="2500">
                <a:latin typeface="Times New Roman" panose="02020603050405020304" charset="0"/>
                <a:cs typeface="Times New Roman" panose="02020603050405020304" charset="0"/>
              </a:rPr>
              <a:t>During braking in the case of EV’s, kinetic energy can be recoverd and can be converted into an immediately usable form or be stored until required by regenration. In this existing system, this energy is not being recovered efficiently.</a:t>
            </a:r>
            <a:endParaRPr lang="en-IN" altLang="en-US" sz="2500">
              <a:latin typeface="Times New Roman" panose="02020603050405020304" charset="0"/>
              <a:cs typeface="Times New Roman" panose="02020603050405020304" charset="0"/>
            </a:endParaRPr>
          </a:p>
          <a:p>
            <a:r>
              <a:rPr lang="en-IN" altLang="en-US" sz="2500">
                <a:latin typeface="Times New Roman" panose="02020603050405020304" charset="0"/>
                <a:cs typeface="Times New Roman" panose="02020603050405020304" charset="0"/>
                <a:sym typeface="+mn-ea"/>
              </a:rPr>
              <a:t>By implementing regneration braking through motor vehicle’s kinetic energy is converted back to electrical energy during braking. The converted electrical energy is stored in energy storage devices such as batteries, ultracapacitors or ultrahigh speed flywheels to extent the driving range by upto some extent.</a:t>
            </a:r>
            <a:endParaRPr lang="en-IN" altLang="en-US" sz="2500">
              <a:latin typeface="Times New Roman" panose="02020603050405020304" charset="0"/>
              <a:cs typeface="Times New Roman" panose="02020603050405020304" charset="0"/>
            </a:endParaRPr>
          </a:p>
          <a:p>
            <a:r>
              <a:rPr lang="en-IN" altLang="en-US" sz="2500">
                <a:latin typeface="Times New Roman" panose="02020603050405020304" charset="0"/>
                <a:cs typeface="Times New Roman" panose="02020603050405020304" charset="0"/>
                <a:sym typeface="+mn-ea"/>
              </a:rPr>
              <a:t>Also BLDC motor is used in the proposed project, so a 3 phase BLDC drive circuit is also designed</a:t>
            </a:r>
            <a:endParaRPr lang="en-IN" altLang="en-US" sz="2500">
              <a:latin typeface="Times New Roman" panose="02020603050405020304" charset="0"/>
              <a:cs typeface="Times New Roman" panose="02020603050405020304" charset="0"/>
            </a:endParaRPr>
          </a:p>
          <a:p>
            <a:endParaRPr lang="en-IN" altLang="en-US" sz="250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000">
                <a:latin typeface="Times New Roman" panose="02020603050405020304" charset="0"/>
                <a:cs typeface="Times New Roman" panose="02020603050405020304" charset="0"/>
              </a:rPr>
              <a:t>EXISTING SYSTEM</a:t>
            </a:r>
            <a:endParaRPr lang="en-US" sz="4000">
              <a:latin typeface="Times New Roman" panose="02020603050405020304" charset="0"/>
              <a:cs typeface="Times New Roman" panose="02020603050405020304" charset="0"/>
            </a:endParaRPr>
          </a:p>
        </p:txBody>
      </p:sp>
      <p:grpSp>
        <p:nvGrpSpPr>
          <p:cNvPr id="3" name="Group 2"/>
          <p:cNvGrpSpPr/>
          <p:nvPr/>
        </p:nvGrpSpPr>
        <p:grpSpPr>
          <a:xfrm>
            <a:off x="2338070" y="2053590"/>
            <a:ext cx="7515860" cy="2454910"/>
            <a:chOff x="4695" y="3530"/>
            <a:chExt cx="11836" cy="3866"/>
          </a:xfrm>
        </p:grpSpPr>
        <p:sp>
          <p:nvSpPr>
            <p:cNvPr id="4" name="Rectangles 3"/>
            <p:cNvSpPr/>
            <p:nvPr/>
          </p:nvSpPr>
          <p:spPr>
            <a:xfrm>
              <a:off x="4711" y="3530"/>
              <a:ext cx="2556" cy="1438"/>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5" name="Text Box 4"/>
            <p:cNvSpPr txBox="1"/>
            <p:nvPr/>
          </p:nvSpPr>
          <p:spPr>
            <a:xfrm>
              <a:off x="5123" y="3959"/>
              <a:ext cx="1731" cy="580"/>
            </a:xfrm>
            <a:prstGeom prst="rect">
              <a:avLst/>
            </a:prstGeom>
            <a:noFill/>
          </p:spPr>
          <p:txBody>
            <a:bodyPr wrap="none" rtlCol="0">
              <a:spAutoFit/>
            </a:bodyPr>
            <a:p>
              <a:r>
                <a:rPr lang="en-US">
                  <a:latin typeface="Times New Roman" panose="02020603050405020304" charset="0"/>
                  <a:cs typeface="Times New Roman" panose="02020603050405020304" charset="0"/>
                </a:rPr>
                <a:t>PV CELL</a:t>
              </a:r>
              <a:endParaRPr lang="en-US">
                <a:latin typeface="Times New Roman" panose="02020603050405020304" charset="0"/>
                <a:cs typeface="Times New Roman" panose="02020603050405020304" charset="0"/>
              </a:endParaRPr>
            </a:p>
          </p:txBody>
        </p:sp>
        <p:sp>
          <p:nvSpPr>
            <p:cNvPr id="6" name="Rectangles 5"/>
            <p:cNvSpPr/>
            <p:nvPr/>
          </p:nvSpPr>
          <p:spPr>
            <a:xfrm>
              <a:off x="4695" y="5958"/>
              <a:ext cx="2652" cy="1438"/>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7" name="Text Box 6"/>
            <p:cNvSpPr txBox="1"/>
            <p:nvPr/>
          </p:nvSpPr>
          <p:spPr>
            <a:xfrm>
              <a:off x="5045" y="6387"/>
              <a:ext cx="1888" cy="580"/>
            </a:xfrm>
            <a:prstGeom prst="rect">
              <a:avLst/>
            </a:prstGeom>
            <a:noFill/>
          </p:spPr>
          <p:txBody>
            <a:bodyPr wrap="none" rtlCol="0">
              <a:spAutoFit/>
            </a:bodyPr>
            <a:p>
              <a:r>
                <a:rPr lang="en-US">
                  <a:latin typeface="Times New Roman" panose="02020603050405020304" charset="0"/>
                  <a:cs typeface="Times New Roman" panose="02020603050405020304" charset="0"/>
                </a:rPr>
                <a:t>BATTERY</a:t>
              </a:r>
              <a:endParaRPr lang="en-US">
                <a:latin typeface="Times New Roman" panose="02020603050405020304" charset="0"/>
                <a:cs typeface="Times New Roman" panose="02020603050405020304" charset="0"/>
              </a:endParaRPr>
            </a:p>
          </p:txBody>
        </p:sp>
        <p:sp>
          <p:nvSpPr>
            <p:cNvPr id="8" name="Rectangles 7"/>
            <p:cNvSpPr/>
            <p:nvPr/>
          </p:nvSpPr>
          <p:spPr>
            <a:xfrm>
              <a:off x="9024" y="4425"/>
              <a:ext cx="3738" cy="1023"/>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10" name="Text Box 9"/>
            <p:cNvSpPr txBox="1"/>
            <p:nvPr/>
          </p:nvSpPr>
          <p:spPr>
            <a:xfrm>
              <a:off x="9022" y="4646"/>
              <a:ext cx="3636" cy="580"/>
            </a:xfrm>
            <a:prstGeom prst="rect">
              <a:avLst/>
            </a:prstGeom>
            <a:noFill/>
          </p:spPr>
          <p:txBody>
            <a:bodyPr wrap="none" rtlCol="0">
              <a:spAutoFit/>
            </a:bodyPr>
            <a:p>
              <a:r>
                <a:rPr lang="en-US">
                  <a:latin typeface="Times New Roman" panose="02020603050405020304" charset="0"/>
                  <a:cs typeface="Times New Roman" panose="02020603050405020304" charset="0"/>
                </a:rPr>
                <a:t>DC-DC CONVERTER</a:t>
              </a:r>
              <a:endParaRPr lang="en-US">
                <a:latin typeface="Times New Roman" panose="02020603050405020304" charset="0"/>
                <a:cs typeface="Times New Roman" panose="02020603050405020304" charset="0"/>
              </a:endParaRPr>
            </a:p>
          </p:txBody>
        </p:sp>
        <p:sp>
          <p:nvSpPr>
            <p:cNvPr id="18" name="Oval 17"/>
            <p:cNvSpPr/>
            <p:nvPr/>
          </p:nvSpPr>
          <p:spPr>
            <a:xfrm>
              <a:off x="14343" y="4609"/>
              <a:ext cx="2188" cy="2140"/>
            </a:xfrm>
            <a:prstGeom prst="ellipse">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19" name="Text Box 18"/>
            <p:cNvSpPr txBox="1"/>
            <p:nvPr/>
          </p:nvSpPr>
          <p:spPr>
            <a:xfrm>
              <a:off x="14646" y="5171"/>
              <a:ext cx="1581" cy="1016"/>
            </a:xfrm>
            <a:prstGeom prst="rect">
              <a:avLst/>
            </a:prstGeom>
            <a:noFill/>
          </p:spPr>
          <p:txBody>
            <a:bodyPr wrap="none" rtlCol="0">
              <a:spAutoFit/>
            </a:bodyPr>
            <a:p>
              <a:pPr algn="ctr"/>
              <a:r>
                <a:rPr lang="en-US">
                  <a:latin typeface="Times New Roman" panose="02020603050405020304" charset="0"/>
                  <a:cs typeface="Times New Roman" panose="02020603050405020304" charset="0"/>
                </a:rPr>
                <a:t>BLDC </a:t>
              </a:r>
              <a:endParaRPr lang="en-US">
                <a:latin typeface="Times New Roman" panose="02020603050405020304" charset="0"/>
                <a:cs typeface="Times New Roman" panose="02020603050405020304" charset="0"/>
              </a:endParaRPr>
            </a:p>
            <a:p>
              <a:pPr algn="ctr"/>
              <a:r>
                <a:rPr lang="en-US">
                  <a:latin typeface="Times New Roman" panose="02020603050405020304" charset="0"/>
                  <a:cs typeface="Times New Roman" panose="02020603050405020304" charset="0"/>
                </a:rPr>
                <a:t>MOTOR</a:t>
              </a:r>
              <a:endParaRPr lang="en-US">
                <a:latin typeface="Times New Roman" panose="02020603050405020304" charset="0"/>
                <a:cs typeface="Times New Roman" panose="02020603050405020304" charset="0"/>
              </a:endParaRPr>
            </a:p>
          </p:txBody>
        </p:sp>
        <p:sp>
          <p:nvSpPr>
            <p:cNvPr id="21" name="Rectangles 20"/>
            <p:cNvSpPr/>
            <p:nvPr/>
          </p:nvSpPr>
          <p:spPr>
            <a:xfrm>
              <a:off x="9024" y="5751"/>
              <a:ext cx="3754" cy="75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22" name="Text Box 21"/>
            <p:cNvSpPr txBox="1"/>
            <p:nvPr/>
          </p:nvSpPr>
          <p:spPr>
            <a:xfrm>
              <a:off x="9142" y="5836"/>
              <a:ext cx="3636" cy="580"/>
            </a:xfrm>
            <a:prstGeom prst="rect">
              <a:avLst/>
            </a:prstGeom>
            <a:noFill/>
          </p:spPr>
          <p:txBody>
            <a:bodyPr wrap="none" rtlCol="0">
              <a:spAutoFit/>
            </a:bodyPr>
            <a:p>
              <a:r>
                <a:rPr lang="en-US">
                  <a:latin typeface="Times New Roman" panose="02020603050405020304" charset="0"/>
                  <a:cs typeface="Times New Roman" panose="02020603050405020304" charset="0"/>
                </a:rPr>
                <a:t>DC-DC CONVERTER</a:t>
              </a:r>
              <a:endParaRPr lang="en-US">
                <a:latin typeface="Times New Roman" panose="02020603050405020304" charset="0"/>
                <a:cs typeface="Times New Roman" panose="02020603050405020304" charset="0"/>
              </a:endParaRPr>
            </a:p>
          </p:txBody>
        </p:sp>
      </p:grpSp>
      <p:cxnSp>
        <p:nvCxnSpPr>
          <p:cNvPr id="9" name="Elbow Connector 8"/>
          <p:cNvCxnSpPr>
            <a:stCxn id="6" idx="3"/>
            <a:endCxn id="21" idx="1"/>
          </p:cNvCxnSpPr>
          <p:nvPr/>
        </p:nvCxnSpPr>
        <p:spPr>
          <a:xfrm flipV="1">
            <a:off x="4022090" y="3702050"/>
            <a:ext cx="1064895" cy="349885"/>
          </a:xfrm>
          <a:prstGeom prst="bentConnector3">
            <a:avLst>
              <a:gd name="adj1" fmla="val 50030"/>
            </a:avLst>
          </a:prstGeom>
          <a:ln>
            <a:tailEnd type="arrow" w="med" len="med"/>
          </a:ln>
        </p:spPr>
        <p:style>
          <a:lnRef idx="1">
            <a:schemeClr val="dk1"/>
          </a:lnRef>
          <a:fillRef idx="0">
            <a:schemeClr val="dk1"/>
          </a:fillRef>
          <a:effectRef idx="0">
            <a:schemeClr val="dk1"/>
          </a:effectRef>
          <a:fontRef idx="minor">
            <a:schemeClr val="tx1"/>
          </a:fontRef>
        </p:style>
      </p:cxnSp>
      <p:cxnSp>
        <p:nvCxnSpPr>
          <p:cNvPr id="11" name="Elbow Connector 10"/>
          <p:cNvCxnSpPr>
            <a:stCxn id="22" idx="3"/>
          </p:cNvCxnSpPr>
          <p:nvPr/>
        </p:nvCxnSpPr>
        <p:spPr>
          <a:xfrm flipV="1">
            <a:off x="7470775" y="3575050"/>
            <a:ext cx="983615" cy="127000"/>
          </a:xfrm>
          <a:prstGeom prst="bentConnector3">
            <a:avLst>
              <a:gd name="adj1" fmla="val 50032"/>
            </a:avLst>
          </a:prstGeom>
          <a:ln>
            <a:tailEnd type="arrow" w="med" len="med"/>
          </a:ln>
        </p:spPr>
        <p:style>
          <a:lnRef idx="1">
            <a:schemeClr val="dk1"/>
          </a:lnRef>
          <a:fillRef idx="0">
            <a:schemeClr val="dk1"/>
          </a:fillRef>
          <a:effectRef idx="0">
            <a:schemeClr val="dk1"/>
          </a:effectRef>
          <a:fontRef idx="minor">
            <a:schemeClr val="tx1"/>
          </a:fontRef>
        </p:style>
      </p:cxnSp>
      <p:cxnSp>
        <p:nvCxnSpPr>
          <p:cNvPr id="20" name="Elbow Connector 19"/>
          <p:cNvCxnSpPr>
            <a:stCxn id="4" idx="3"/>
            <a:endCxn id="10" idx="1"/>
          </p:cNvCxnSpPr>
          <p:nvPr/>
        </p:nvCxnSpPr>
        <p:spPr>
          <a:xfrm>
            <a:off x="3971290" y="2510155"/>
            <a:ext cx="1114425" cy="436245"/>
          </a:xfrm>
          <a:prstGeom prst="bentConnector3">
            <a:avLst>
              <a:gd name="adj1" fmla="val 50028"/>
            </a:avLst>
          </a:prstGeom>
          <a:ln>
            <a:tailEnd type="arrow" w="med" len="med"/>
          </a:ln>
        </p:spPr>
        <p:style>
          <a:lnRef idx="1">
            <a:schemeClr val="dk1"/>
          </a:lnRef>
          <a:fillRef idx="0">
            <a:schemeClr val="dk1"/>
          </a:fillRef>
          <a:effectRef idx="0">
            <a:schemeClr val="dk1"/>
          </a:effectRef>
          <a:fontRef idx="minor">
            <a:schemeClr val="tx1"/>
          </a:fontRef>
        </p:style>
      </p:cxnSp>
      <p:cxnSp>
        <p:nvCxnSpPr>
          <p:cNvPr id="29" name="Elbow Connector 28"/>
          <p:cNvCxnSpPr>
            <a:stCxn id="10" idx="3"/>
          </p:cNvCxnSpPr>
          <p:nvPr/>
        </p:nvCxnSpPr>
        <p:spPr>
          <a:xfrm>
            <a:off x="7394575" y="2946400"/>
            <a:ext cx="1059815" cy="314325"/>
          </a:xfrm>
          <a:prstGeom prst="bentConnector3">
            <a:avLst>
              <a:gd name="adj1" fmla="val 50030"/>
            </a:avLst>
          </a:prstGeom>
          <a:ln>
            <a:tailEnd type="arrow" w="med" len="med"/>
          </a:ln>
        </p:spPr>
        <p:style>
          <a:lnRef idx="1">
            <a:schemeClr val="dk1"/>
          </a:lnRef>
          <a:fillRef idx="0">
            <a:schemeClr val="dk1"/>
          </a:fillRef>
          <a:effectRef idx="0">
            <a:schemeClr val="dk1"/>
          </a:effectRef>
          <a:fontRef idx="minor">
            <a:schemeClr val="tx1"/>
          </a:fontRef>
        </p:style>
      </p:cxnSp>
      <p:sp>
        <p:nvSpPr>
          <p:cNvPr id="12" name="Slide Number Placeholder 1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000">
                <a:latin typeface="Times New Roman" panose="02020603050405020304" charset="0"/>
                <a:cs typeface="Times New Roman" panose="02020603050405020304" charset="0"/>
                <a:sym typeface="+mn-ea"/>
              </a:rPr>
              <a:t>PROPOSED</a:t>
            </a:r>
            <a:r>
              <a:rPr lang="en-IN" altLang="en-US" sz="4000">
                <a:latin typeface="Times New Roman" panose="02020603050405020304" charset="0"/>
                <a:cs typeface="Times New Roman" panose="02020603050405020304" charset="0"/>
              </a:rPr>
              <a:t> SYSTEM</a:t>
            </a:r>
            <a:endParaRPr lang="en-IN" altLang="en-US" sz="4000">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2388870" y="1691005"/>
            <a:ext cx="7414260" cy="461708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000">
                <a:latin typeface="Times New Roman" panose="02020603050405020304" charset="0"/>
                <a:cs typeface="Times New Roman" panose="02020603050405020304" charset="0"/>
                <a:sym typeface="+mn-ea"/>
              </a:rPr>
              <a:t>PROPOSED</a:t>
            </a:r>
            <a:r>
              <a:rPr lang="en-US" sz="4000">
                <a:latin typeface="Times New Roman" panose="02020603050405020304" charset="0"/>
                <a:cs typeface="Times New Roman" panose="02020603050405020304" charset="0"/>
                <a:sym typeface="+mn-ea"/>
              </a:rPr>
              <a:t> SYSTEM</a:t>
            </a:r>
            <a:endParaRPr lang="en-US" sz="4000"/>
          </a:p>
        </p:txBody>
      </p:sp>
      <p:sp>
        <p:nvSpPr>
          <p:cNvPr id="3" name="Content Placeholder 2"/>
          <p:cNvSpPr>
            <a:spLocks noGrp="1"/>
          </p:cNvSpPr>
          <p:nvPr>
            <p:ph idx="1"/>
          </p:nvPr>
        </p:nvSpPr>
        <p:spPr/>
        <p:txBody>
          <a:bodyPr/>
          <a:p>
            <a:pPr marL="0" indent="0">
              <a:buNone/>
            </a:pPr>
            <a:r>
              <a:rPr lang="en-IN" altLang="en-US">
                <a:latin typeface="Times New Roman" panose="02020603050405020304" charset="0"/>
                <a:sym typeface="+mn-ea"/>
              </a:rPr>
              <a:t>Types of operation:</a:t>
            </a:r>
            <a:endParaRPr lang="en-US" altLang="zh-CN">
              <a:latin typeface="Times New Roman" panose="02020603050405020304" charset="0"/>
              <a:sym typeface="+mn-ea"/>
            </a:endParaRPr>
          </a:p>
          <a:p>
            <a:r>
              <a:rPr lang="en-US" altLang="zh-CN">
                <a:latin typeface="Times New Roman" panose="02020603050405020304" charset="0"/>
                <a:sym typeface="+mn-ea"/>
              </a:rPr>
              <a:t>Type i - C-boost operation</a:t>
            </a:r>
            <a:endParaRPr lang="en-US" altLang="zh-CN">
              <a:latin typeface="Times New Roman" panose="02020603050405020304" charset="0"/>
            </a:endParaRPr>
          </a:p>
          <a:p>
            <a:r>
              <a:rPr lang="en-US" altLang="zh-CN">
                <a:latin typeface="Times New Roman" panose="02020603050405020304" charset="0"/>
                <a:sym typeface="+mn-ea"/>
              </a:rPr>
              <a:t>Type ii. Solar PV-powered operation </a:t>
            </a:r>
            <a:endParaRPr lang="en-US" altLang="zh-CN">
              <a:latin typeface="Times New Roman" panose="02020603050405020304" charset="0"/>
            </a:endParaRPr>
          </a:p>
          <a:p>
            <a:r>
              <a:rPr lang="en-US" altLang="zh-CN">
                <a:latin typeface="Times New Roman" panose="02020603050405020304" charset="0"/>
                <a:sym typeface="+mn-ea"/>
              </a:rPr>
              <a:t>Type iii. Battery-powered operation </a:t>
            </a:r>
            <a:endParaRPr lang="en-US" altLang="zh-CN">
              <a:latin typeface="Times New Roman" panose="02020603050405020304" charset="0"/>
            </a:endParaRPr>
          </a:p>
          <a:p>
            <a:r>
              <a:rPr lang="en-US" altLang="zh-CN">
                <a:latin typeface="Times New Roman" panose="02020603050405020304" charset="0"/>
                <a:sym typeface="+mn-ea"/>
              </a:rPr>
              <a:t>Type iv. Battery charging from solar PV in parking mode </a:t>
            </a:r>
            <a:endParaRPr lang="en-US" altLang="zh-CN">
              <a:latin typeface="Times New Roman" panose="02020603050405020304" charset="0"/>
            </a:endParaRPr>
          </a:p>
          <a:p>
            <a:r>
              <a:rPr lang="en-US" altLang="zh-CN">
                <a:latin typeface="Times New Roman" panose="02020603050405020304" charset="0"/>
                <a:sym typeface="+mn-ea"/>
              </a:rPr>
              <a:t>Type v. Power flow from V2V or V2G in parking mode </a:t>
            </a:r>
            <a:endParaRPr lang="en-US" altLang="zh-CN">
              <a:latin typeface="Times New Roman" panose="02020603050405020304" charset="0"/>
            </a:endParaRPr>
          </a:p>
          <a:p>
            <a:r>
              <a:rPr lang="en-US" altLang="zh-CN">
                <a:latin typeface="Times New Roman" panose="02020603050405020304" charset="0"/>
                <a:sym typeface="+mn-ea"/>
              </a:rPr>
              <a:t>Type vi. Bidirectional rear-buck operation</a:t>
            </a:r>
            <a:endParaRPr lang="en-US" altLang="zh-CN">
              <a:latin typeface="Times New Roman" panose="02020603050405020304" charset="0"/>
            </a:endParaRPr>
          </a:p>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43205"/>
            <a:ext cx="10515600" cy="1052830"/>
          </a:xfrm>
        </p:spPr>
        <p:txBody>
          <a:bodyPr>
            <a:normAutofit/>
          </a:bodyPr>
          <a:p>
            <a:pPr algn="ctr"/>
            <a:r>
              <a:rPr lang="en-US">
                <a:latin typeface="Times New Roman" panose="02020603050405020304" charset="0"/>
                <a:cs typeface="Times New Roman" panose="02020603050405020304" charset="0"/>
                <a:sym typeface="+mn-ea"/>
              </a:rPr>
              <a:t>EXISTING SYSTEM</a:t>
            </a:r>
            <a:endParaRPr lang="en-US"/>
          </a:p>
        </p:txBody>
      </p:sp>
      <p:pic>
        <p:nvPicPr>
          <p:cNvPr id="4" name="Content Placeholder 3"/>
          <p:cNvPicPr>
            <a:picLocks noGrp="1" noChangeAspect="1"/>
          </p:cNvPicPr>
          <p:nvPr>
            <p:ph idx="1"/>
          </p:nvPr>
        </p:nvPicPr>
        <p:blipFill>
          <a:blip r:embed="rId1"/>
          <a:stretch>
            <a:fillRect/>
          </a:stretch>
        </p:blipFill>
        <p:spPr>
          <a:xfrm>
            <a:off x="1543685" y="1113790"/>
            <a:ext cx="9103995" cy="543179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3" name="Straight Connector 52"/>
          <p:cNvCxnSpPr/>
          <p:nvPr/>
        </p:nvCxnSpPr>
        <p:spPr>
          <a:xfrm>
            <a:off x="8109585" y="1631315"/>
            <a:ext cx="24765" cy="1570990"/>
          </a:xfrm>
          <a:prstGeom prst="line">
            <a:avLst/>
          </a:prstGeom>
        </p:spPr>
        <p:style>
          <a:lnRef idx="1">
            <a:schemeClr val="dk1"/>
          </a:lnRef>
          <a:fillRef idx="0">
            <a:schemeClr val="dk1"/>
          </a:fillRef>
          <a:effectRef idx="0">
            <a:schemeClr val="dk1"/>
          </a:effectRef>
          <a:fontRef idx="minor">
            <a:schemeClr val="tx1"/>
          </a:fontRef>
        </p:style>
      </p:cxnSp>
      <p:sp>
        <p:nvSpPr>
          <p:cNvPr id="48" name="Rectangles 47"/>
          <p:cNvSpPr/>
          <p:nvPr/>
        </p:nvSpPr>
        <p:spPr>
          <a:xfrm>
            <a:off x="9410065" y="2044700"/>
            <a:ext cx="1096010" cy="72072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47" name="Rectangles 46"/>
          <p:cNvSpPr/>
          <p:nvPr/>
        </p:nvSpPr>
        <p:spPr>
          <a:xfrm>
            <a:off x="7734935" y="2014220"/>
            <a:ext cx="964565" cy="90360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34" name="Rectangles 33"/>
          <p:cNvSpPr/>
          <p:nvPr/>
        </p:nvSpPr>
        <p:spPr>
          <a:xfrm>
            <a:off x="1238250" y="4930140"/>
            <a:ext cx="1715770" cy="71056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33" name="Rectangles 32"/>
          <p:cNvSpPr/>
          <p:nvPr/>
        </p:nvSpPr>
        <p:spPr>
          <a:xfrm>
            <a:off x="1196975" y="3482975"/>
            <a:ext cx="1704975" cy="103568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15" name="Rectangles 14"/>
          <p:cNvSpPr/>
          <p:nvPr/>
        </p:nvSpPr>
        <p:spPr>
          <a:xfrm>
            <a:off x="1481455" y="2433320"/>
            <a:ext cx="1370330" cy="77152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14" name="Rectangles 13"/>
          <p:cNvSpPr/>
          <p:nvPr/>
        </p:nvSpPr>
        <p:spPr>
          <a:xfrm>
            <a:off x="1491615" y="1550035"/>
            <a:ext cx="1310005" cy="70104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9" name="Rectangles 8"/>
          <p:cNvSpPr/>
          <p:nvPr/>
        </p:nvSpPr>
        <p:spPr>
          <a:xfrm>
            <a:off x="3349625" y="4669155"/>
            <a:ext cx="2456815" cy="114681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7" name="Rectangles 6"/>
          <p:cNvSpPr/>
          <p:nvPr/>
        </p:nvSpPr>
        <p:spPr>
          <a:xfrm>
            <a:off x="3349625" y="3682365"/>
            <a:ext cx="2284095" cy="60896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4" name="Rectangles 3"/>
          <p:cNvSpPr/>
          <p:nvPr/>
        </p:nvSpPr>
        <p:spPr>
          <a:xfrm>
            <a:off x="3359785" y="1477645"/>
            <a:ext cx="2273935" cy="182753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2" name="Title 1"/>
          <p:cNvSpPr>
            <a:spLocks noGrp="1"/>
          </p:cNvSpPr>
          <p:nvPr>
            <p:ph type="title"/>
          </p:nvPr>
        </p:nvSpPr>
        <p:spPr/>
        <p:txBody>
          <a:bodyPr/>
          <a:p>
            <a:pPr algn="ctr"/>
            <a:r>
              <a:rPr lang="en-US" sz="4000">
                <a:latin typeface="Times New Roman" panose="02020603050405020304" charset="0"/>
                <a:cs typeface="Times New Roman" panose="02020603050405020304" charset="0"/>
              </a:rPr>
              <a:t>PROPOSED SYSTEM</a:t>
            </a:r>
            <a:endParaRPr lang="en-US" sz="4000">
              <a:latin typeface="Times New Roman" panose="02020603050405020304" charset="0"/>
              <a:cs typeface="Times New Roman" panose="02020603050405020304" charset="0"/>
            </a:endParaRPr>
          </a:p>
        </p:txBody>
      </p:sp>
      <p:sp>
        <p:nvSpPr>
          <p:cNvPr id="5" name="Text Box 4"/>
          <p:cNvSpPr txBox="1"/>
          <p:nvPr/>
        </p:nvSpPr>
        <p:spPr>
          <a:xfrm>
            <a:off x="3713480" y="2003425"/>
            <a:ext cx="1750060" cy="922020"/>
          </a:xfrm>
          <a:prstGeom prst="rect">
            <a:avLst/>
          </a:prstGeom>
          <a:noFill/>
        </p:spPr>
        <p:txBody>
          <a:bodyPr wrap="none" rtlCol="0">
            <a:spAutoFit/>
          </a:bodyPr>
          <a:p>
            <a:r>
              <a:rPr lang="en-IN" altLang="en-US"/>
              <a:t>Dual input</a:t>
            </a:r>
            <a:endParaRPr lang="en-IN" altLang="en-US"/>
          </a:p>
          <a:p>
            <a:r>
              <a:rPr lang="en-IN" altLang="en-US"/>
              <a:t>superboost</a:t>
            </a:r>
            <a:endParaRPr lang="en-IN" altLang="en-US"/>
          </a:p>
          <a:p>
            <a:r>
              <a:rPr lang="en-IN" altLang="en-US"/>
              <a:t>DC-DC Converter</a:t>
            </a:r>
            <a:endParaRPr lang="en-IN" altLang="en-US"/>
          </a:p>
        </p:txBody>
      </p:sp>
      <p:sp>
        <p:nvSpPr>
          <p:cNvPr id="6" name="Text Box 5"/>
          <p:cNvSpPr txBox="1"/>
          <p:nvPr/>
        </p:nvSpPr>
        <p:spPr>
          <a:xfrm>
            <a:off x="3713480" y="3803015"/>
            <a:ext cx="1453515" cy="368300"/>
          </a:xfrm>
          <a:prstGeom prst="rect">
            <a:avLst/>
          </a:prstGeom>
          <a:noFill/>
        </p:spPr>
        <p:txBody>
          <a:bodyPr wrap="none" rtlCol="0">
            <a:spAutoFit/>
          </a:bodyPr>
          <a:p>
            <a:r>
              <a:rPr lang="en-IN" altLang="en-US"/>
              <a:t>T</a:t>
            </a:r>
            <a:r>
              <a:rPr lang="en-US" altLang="en-IN"/>
              <a:t>LP</a:t>
            </a:r>
            <a:r>
              <a:rPr lang="en-IN" altLang="en-US"/>
              <a:t>250 driver</a:t>
            </a:r>
            <a:endParaRPr lang="en-IN" altLang="en-US"/>
          </a:p>
        </p:txBody>
      </p:sp>
      <p:sp>
        <p:nvSpPr>
          <p:cNvPr id="8" name="Text Box 7"/>
          <p:cNvSpPr txBox="1"/>
          <p:nvPr/>
        </p:nvSpPr>
        <p:spPr>
          <a:xfrm>
            <a:off x="3757930" y="4919980"/>
            <a:ext cx="1661160" cy="645160"/>
          </a:xfrm>
          <a:prstGeom prst="rect">
            <a:avLst/>
          </a:prstGeom>
          <a:noFill/>
        </p:spPr>
        <p:txBody>
          <a:bodyPr wrap="none" rtlCol="0">
            <a:spAutoFit/>
          </a:bodyPr>
          <a:p>
            <a:r>
              <a:rPr lang="en-IN" altLang="en-US"/>
              <a:t>Arduino</a:t>
            </a:r>
            <a:endParaRPr lang="en-IN" altLang="en-US"/>
          </a:p>
          <a:p>
            <a:r>
              <a:rPr lang="en-IN" altLang="en-US"/>
              <a:t>Mega controller</a:t>
            </a:r>
            <a:endParaRPr lang="en-IN" altLang="en-US"/>
          </a:p>
        </p:txBody>
      </p:sp>
      <p:sp>
        <p:nvSpPr>
          <p:cNvPr id="10" name="Text Box 9"/>
          <p:cNvSpPr txBox="1"/>
          <p:nvPr/>
        </p:nvSpPr>
        <p:spPr>
          <a:xfrm>
            <a:off x="1784985" y="1560195"/>
            <a:ext cx="691515" cy="645160"/>
          </a:xfrm>
          <a:prstGeom prst="rect">
            <a:avLst/>
          </a:prstGeom>
          <a:noFill/>
        </p:spPr>
        <p:txBody>
          <a:bodyPr wrap="none" rtlCol="0">
            <a:spAutoFit/>
          </a:bodyPr>
          <a:p>
            <a:r>
              <a:rPr lang="en-IN" altLang="en-US"/>
              <a:t>Pv</a:t>
            </a:r>
            <a:endParaRPr lang="en-IN" altLang="en-US"/>
          </a:p>
          <a:p>
            <a:r>
              <a:rPr lang="en-IN" altLang="en-US"/>
              <a:t>Panel</a:t>
            </a:r>
            <a:endParaRPr lang="en-IN" altLang="en-US"/>
          </a:p>
        </p:txBody>
      </p:sp>
      <p:sp>
        <p:nvSpPr>
          <p:cNvPr id="11" name="Text Box 10"/>
          <p:cNvSpPr txBox="1"/>
          <p:nvPr/>
        </p:nvSpPr>
        <p:spPr>
          <a:xfrm>
            <a:off x="1633855" y="2383155"/>
            <a:ext cx="1210945" cy="922020"/>
          </a:xfrm>
          <a:prstGeom prst="rect">
            <a:avLst/>
          </a:prstGeom>
          <a:noFill/>
        </p:spPr>
        <p:txBody>
          <a:bodyPr wrap="none" rtlCol="0">
            <a:spAutoFit/>
          </a:bodyPr>
          <a:p>
            <a:r>
              <a:rPr lang="en-IN" altLang="en-US"/>
              <a:t>	+</a:t>
            </a:r>
            <a:endParaRPr lang="en-IN" altLang="en-US"/>
          </a:p>
          <a:p>
            <a:r>
              <a:rPr lang="en-IN" altLang="en-US"/>
              <a:t>Battery</a:t>
            </a:r>
            <a:endParaRPr lang="en-IN" altLang="en-US"/>
          </a:p>
          <a:p>
            <a:r>
              <a:rPr lang="en-IN" altLang="en-US"/>
              <a:t>	-</a:t>
            </a:r>
            <a:endParaRPr lang="en-IN" altLang="en-US"/>
          </a:p>
        </p:txBody>
      </p:sp>
      <p:sp>
        <p:nvSpPr>
          <p:cNvPr id="12" name="Text Box 11"/>
          <p:cNvSpPr txBox="1"/>
          <p:nvPr/>
        </p:nvSpPr>
        <p:spPr>
          <a:xfrm>
            <a:off x="619760" y="1631315"/>
            <a:ext cx="577215" cy="645160"/>
          </a:xfrm>
          <a:prstGeom prst="rect">
            <a:avLst/>
          </a:prstGeom>
          <a:noFill/>
        </p:spPr>
        <p:txBody>
          <a:bodyPr wrap="square" rtlCol="0">
            <a:spAutoFit/>
          </a:bodyPr>
          <a:p>
            <a:r>
              <a:rPr lang="en-IN" altLang="en-US"/>
              <a:t>10w</a:t>
            </a:r>
            <a:endParaRPr lang="en-IN" altLang="en-US"/>
          </a:p>
          <a:p>
            <a:r>
              <a:rPr lang="en-IN" altLang="en-US"/>
              <a:t>12v</a:t>
            </a:r>
            <a:endParaRPr lang="en-IN" altLang="en-US"/>
          </a:p>
        </p:txBody>
      </p:sp>
      <p:sp>
        <p:nvSpPr>
          <p:cNvPr id="13" name="Text Box 12"/>
          <p:cNvSpPr txBox="1"/>
          <p:nvPr/>
        </p:nvSpPr>
        <p:spPr>
          <a:xfrm>
            <a:off x="679450" y="2521585"/>
            <a:ext cx="723900" cy="645160"/>
          </a:xfrm>
          <a:prstGeom prst="rect">
            <a:avLst/>
          </a:prstGeom>
          <a:noFill/>
        </p:spPr>
        <p:txBody>
          <a:bodyPr wrap="none" rtlCol="0">
            <a:spAutoFit/>
          </a:bodyPr>
          <a:p>
            <a:r>
              <a:rPr lang="en-IN" altLang="en-US"/>
              <a:t>12v</a:t>
            </a:r>
            <a:endParaRPr lang="en-IN" altLang="en-US"/>
          </a:p>
          <a:p>
            <a:r>
              <a:rPr lang="en-IN" altLang="en-US"/>
              <a:t>1.3Ah</a:t>
            </a:r>
            <a:endParaRPr lang="en-IN" altLang="en-US"/>
          </a:p>
        </p:txBody>
      </p:sp>
      <p:cxnSp>
        <p:nvCxnSpPr>
          <p:cNvPr id="16" name="Straight Connector 15"/>
          <p:cNvCxnSpPr/>
          <p:nvPr/>
        </p:nvCxnSpPr>
        <p:spPr>
          <a:xfrm>
            <a:off x="2801620" y="1682115"/>
            <a:ext cx="527685"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2781300" y="2058035"/>
            <a:ext cx="558165"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2831465" y="2575560"/>
            <a:ext cx="497840"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a:off x="2831465" y="3123565"/>
            <a:ext cx="528320"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Arrow Connector 19"/>
          <p:cNvCxnSpPr>
            <a:stCxn id="7" idx="0"/>
            <a:endCxn id="4" idx="2"/>
          </p:cNvCxnSpPr>
          <p:nvPr/>
        </p:nvCxnSpPr>
        <p:spPr>
          <a:xfrm flipV="1">
            <a:off x="4491990" y="3305175"/>
            <a:ext cx="5080" cy="37719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1" name="Text Box 20"/>
          <p:cNvSpPr txBox="1"/>
          <p:nvPr/>
        </p:nvSpPr>
        <p:spPr>
          <a:xfrm>
            <a:off x="4700270" y="3263900"/>
            <a:ext cx="718820" cy="460375"/>
          </a:xfrm>
          <a:prstGeom prst="rect">
            <a:avLst/>
          </a:prstGeom>
          <a:noFill/>
        </p:spPr>
        <p:txBody>
          <a:bodyPr wrap="none" rtlCol="0">
            <a:spAutoFit/>
          </a:bodyPr>
          <a:p>
            <a:r>
              <a:rPr lang="en-IN" altLang="en-US" sz="1200"/>
              <a:t>3 pulses </a:t>
            </a:r>
            <a:endParaRPr lang="en-IN" altLang="en-US" sz="1200"/>
          </a:p>
          <a:p>
            <a:pPr algn="ctr"/>
            <a:r>
              <a:rPr lang="en-IN" altLang="en-US" sz="1200"/>
              <a:t>15v</a:t>
            </a:r>
            <a:endParaRPr lang="en-IN" altLang="en-US" sz="1200"/>
          </a:p>
        </p:txBody>
      </p:sp>
      <p:cxnSp>
        <p:nvCxnSpPr>
          <p:cNvPr id="22" name="Straight Arrow Connector 21"/>
          <p:cNvCxnSpPr>
            <a:stCxn id="9" idx="0"/>
          </p:cNvCxnSpPr>
          <p:nvPr/>
        </p:nvCxnSpPr>
        <p:spPr>
          <a:xfrm flipV="1">
            <a:off x="4578350" y="4281170"/>
            <a:ext cx="9525" cy="38798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3" name="Text Box 22"/>
          <p:cNvSpPr txBox="1"/>
          <p:nvPr/>
        </p:nvSpPr>
        <p:spPr>
          <a:xfrm>
            <a:off x="4699953" y="4250055"/>
            <a:ext cx="659130" cy="460375"/>
          </a:xfrm>
          <a:prstGeom prst="rect">
            <a:avLst/>
          </a:prstGeom>
          <a:noFill/>
        </p:spPr>
        <p:txBody>
          <a:bodyPr wrap="none" rtlCol="0">
            <a:spAutoFit/>
          </a:bodyPr>
          <a:p>
            <a:pPr algn="ctr"/>
            <a:r>
              <a:rPr lang="en-IN" altLang="en-US" sz="1200"/>
              <a:t>3 pulse </a:t>
            </a:r>
            <a:endParaRPr lang="en-IN" altLang="en-US" sz="1200"/>
          </a:p>
          <a:p>
            <a:pPr algn="ctr"/>
            <a:r>
              <a:rPr lang="en-IN" altLang="en-US" sz="1200"/>
              <a:t>5v</a:t>
            </a:r>
            <a:endParaRPr lang="en-IN" altLang="en-US" sz="1200"/>
          </a:p>
        </p:txBody>
      </p:sp>
      <p:cxnSp>
        <p:nvCxnSpPr>
          <p:cNvPr id="24" name="Straight Arrow Connector 23"/>
          <p:cNvCxnSpPr/>
          <p:nvPr/>
        </p:nvCxnSpPr>
        <p:spPr>
          <a:xfrm flipH="1" flipV="1">
            <a:off x="3643630" y="5814060"/>
            <a:ext cx="20320" cy="46672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flipH="1" flipV="1">
            <a:off x="4465955" y="5824220"/>
            <a:ext cx="10160" cy="45656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flipH="1" flipV="1">
            <a:off x="5562600" y="5814060"/>
            <a:ext cx="10160" cy="41592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7" name="Text Box 26"/>
          <p:cNvSpPr txBox="1"/>
          <p:nvPr/>
        </p:nvSpPr>
        <p:spPr>
          <a:xfrm>
            <a:off x="3451860" y="6193790"/>
            <a:ext cx="403225" cy="368300"/>
          </a:xfrm>
          <a:prstGeom prst="rect">
            <a:avLst/>
          </a:prstGeom>
          <a:noFill/>
        </p:spPr>
        <p:txBody>
          <a:bodyPr wrap="none" rtlCol="0">
            <a:spAutoFit/>
          </a:bodyPr>
          <a:p>
            <a:r>
              <a:rPr lang="en-IN" altLang="en-US"/>
              <a:t>S1</a:t>
            </a:r>
            <a:endParaRPr lang="en-IN" altLang="en-US"/>
          </a:p>
        </p:txBody>
      </p:sp>
      <p:sp>
        <p:nvSpPr>
          <p:cNvPr id="28" name="Text Box 27"/>
          <p:cNvSpPr txBox="1"/>
          <p:nvPr/>
        </p:nvSpPr>
        <p:spPr>
          <a:xfrm>
            <a:off x="4297045" y="6193790"/>
            <a:ext cx="403225" cy="368300"/>
          </a:xfrm>
          <a:prstGeom prst="rect">
            <a:avLst/>
          </a:prstGeom>
          <a:noFill/>
        </p:spPr>
        <p:txBody>
          <a:bodyPr wrap="none" rtlCol="0">
            <a:spAutoFit/>
          </a:bodyPr>
          <a:p>
            <a:r>
              <a:rPr lang="en-IN" altLang="en-US"/>
              <a:t>S2</a:t>
            </a:r>
            <a:endParaRPr lang="en-IN" altLang="en-US"/>
          </a:p>
        </p:txBody>
      </p:sp>
      <p:sp>
        <p:nvSpPr>
          <p:cNvPr id="29" name="Text Box 28"/>
          <p:cNvSpPr txBox="1"/>
          <p:nvPr/>
        </p:nvSpPr>
        <p:spPr>
          <a:xfrm>
            <a:off x="5389880" y="6193790"/>
            <a:ext cx="403225" cy="368300"/>
          </a:xfrm>
          <a:prstGeom prst="rect">
            <a:avLst/>
          </a:prstGeom>
          <a:noFill/>
        </p:spPr>
        <p:txBody>
          <a:bodyPr wrap="none" rtlCol="0">
            <a:spAutoFit/>
          </a:bodyPr>
          <a:p>
            <a:r>
              <a:rPr lang="en-IN" altLang="en-US"/>
              <a:t>S3</a:t>
            </a:r>
            <a:endParaRPr lang="en-IN" altLang="en-US"/>
          </a:p>
        </p:txBody>
      </p:sp>
      <p:sp>
        <p:nvSpPr>
          <p:cNvPr id="30" name="Text Box 29"/>
          <p:cNvSpPr txBox="1"/>
          <p:nvPr/>
        </p:nvSpPr>
        <p:spPr>
          <a:xfrm>
            <a:off x="3663950" y="6504305"/>
            <a:ext cx="2193290" cy="368300"/>
          </a:xfrm>
          <a:prstGeom prst="rect">
            <a:avLst/>
          </a:prstGeom>
          <a:noFill/>
        </p:spPr>
        <p:txBody>
          <a:bodyPr wrap="none" rtlCol="0">
            <a:spAutoFit/>
          </a:bodyPr>
          <a:p>
            <a:r>
              <a:rPr lang="en-IN" altLang="en-US"/>
              <a:t>SELECTION SWITCHES</a:t>
            </a:r>
            <a:endParaRPr lang="en-IN" altLang="en-US"/>
          </a:p>
        </p:txBody>
      </p:sp>
      <p:sp>
        <p:nvSpPr>
          <p:cNvPr id="31" name="Text Box 30"/>
          <p:cNvSpPr txBox="1"/>
          <p:nvPr/>
        </p:nvSpPr>
        <p:spPr>
          <a:xfrm>
            <a:off x="1379220" y="3677920"/>
            <a:ext cx="1433830" cy="645160"/>
          </a:xfrm>
          <a:prstGeom prst="rect">
            <a:avLst/>
          </a:prstGeom>
          <a:noFill/>
        </p:spPr>
        <p:txBody>
          <a:bodyPr wrap="none" rtlCol="0">
            <a:spAutoFit/>
          </a:bodyPr>
          <a:p>
            <a:r>
              <a:rPr lang="en-IN" altLang="en-US"/>
              <a:t>15V </a:t>
            </a:r>
            <a:endParaRPr lang="en-IN" altLang="en-US"/>
          </a:p>
          <a:p>
            <a:r>
              <a:rPr lang="en-IN" altLang="en-US"/>
              <a:t>power supply</a:t>
            </a:r>
            <a:endParaRPr lang="en-IN" altLang="en-US"/>
          </a:p>
        </p:txBody>
      </p:sp>
      <p:sp>
        <p:nvSpPr>
          <p:cNvPr id="32" name="Text Box 31"/>
          <p:cNvSpPr txBox="1"/>
          <p:nvPr/>
        </p:nvSpPr>
        <p:spPr>
          <a:xfrm>
            <a:off x="1435100" y="4919980"/>
            <a:ext cx="1433830" cy="645160"/>
          </a:xfrm>
          <a:prstGeom prst="rect">
            <a:avLst/>
          </a:prstGeom>
          <a:noFill/>
        </p:spPr>
        <p:txBody>
          <a:bodyPr wrap="none" rtlCol="0">
            <a:spAutoFit/>
          </a:bodyPr>
          <a:p>
            <a:pPr algn="ctr"/>
            <a:r>
              <a:rPr lang="en-IN" altLang="en-US"/>
              <a:t>5V</a:t>
            </a:r>
            <a:endParaRPr lang="en-IN" altLang="en-US"/>
          </a:p>
          <a:p>
            <a:r>
              <a:rPr lang="en-IN" altLang="en-US"/>
              <a:t>power supply</a:t>
            </a:r>
            <a:endParaRPr lang="en-IN" altLang="en-US"/>
          </a:p>
        </p:txBody>
      </p:sp>
      <p:cxnSp>
        <p:nvCxnSpPr>
          <p:cNvPr id="35" name="Straight Arrow Connector 34"/>
          <p:cNvCxnSpPr>
            <a:stCxn id="33" idx="3"/>
            <a:endCxn id="7" idx="1"/>
          </p:cNvCxnSpPr>
          <p:nvPr/>
        </p:nvCxnSpPr>
        <p:spPr>
          <a:xfrm flipV="1">
            <a:off x="2901950" y="3987165"/>
            <a:ext cx="447675" cy="1397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flipV="1">
            <a:off x="2943860" y="5240655"/>
            <a:ext cx="382270" cy="190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5806440" y="4796155"/>
            <a:ext cx="680085" cy="101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9" idx="3"/>
          </p:cNvCxnSpPr>
          <p:nvPr/>
        </p:nvCxnSpPr>
        <p:spPr>
          <a:xfrm>
            <a:off x="5806440" y="5242560"/>
            <a:ext cx="690245" cy="101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a:off x="5816600" y="5607685"/>
            <a:ext cx="700405" cy="101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40" name="Text Box 39"/>
          <p:cNvSpPr txBox="1"/>
          <p:nvPr/>
        </p:nvSpPr>
        <p:spPr>
          <a:xfrm>
            <a:off x="6486525" y="4617085"/>
            <a:ext cx="422275" cy="368300"/>
          </a:xfrm>
          <a:prstGeom prst="rect">
            <a:avLst/>
          </a:prstGeom>
          <a:noFill/>
        </p:spPr>
        <p:txBody>
          <a:bodyPr wrap="none" rtlCol="0">
            <a:spAutoFit/>
          </a:bodyPr>
          <a:p>
            <a:r>
              <a:rPr lang="en-IN" altLang="en-US"/>
              <a:t>R1</a:t>
            </a:r>
            <a:endParaRPr lang="en-IN" altLang="en-US"/>
          </a:p>
        </p:txBody>
      </p:sp>
      <p:sp>
        <p:nvSpPr>
          <p:cNvPr id="41" name="Text Box 40"/>
          <p:cNvSpPr txBox="1"/>
          <p:nvPr/>
        </p:nvSpPr>
        <p:spPr>
          <a:xfrm>
            <a:off x="6486525" y="5090160"/>
            <a:ext cx="422275" cy="368300"/>
          </a:xfrm>
          <a:prstGeom prst="rect">
            <a:avLst/>
          </a:prstGeom>
          <a:noFill/>
        </p:spPr>
        <p:txBody>
          <a:bodyPr wrap="none" rtlCol="0">
            <a:spAutoFit/>
          </a:bodyPr>
          <a:p>
            <a:r>
              <a:rPr lang="en-IN" altLang="en-US"/>
              <a:t>R2</a:t>
            </a:r>
            <a:endParaRPr lang="en-IN" altLang="en-US"/>
          </a:p>
        </p:txBody>
      </p:sp>
      <p:sp>
        <p:nvSpPr>
          <p:cNvPr id="42" name="Text Box 41"/>
          <p:cNvSpPr txBox="1"/>
          <p:nvPr/>
        </p:nvSpPr>
        <p:spPr>
          <a:xfrm>
            <a:off x="6496685" y="5428615"/>
            <a:ext cx="422275" cy="368300"/>
          </a:xfrm>
          <a:prstGeom prst="rect">
            <a:avLst/>
          </a:prstGeom>
          <a:noFill/>
        </p:spPr>
        <p:txBody>
          <a:bodyPr wrap="none" rtlCol="0">
            <a:spAutoFit/>
          </a:bodyPr>
          <a:p>
            <a:r>
              <a:rPr lang="en-IN" altLang="en-US"/>
              <a:t>R3</a:t>
            </a:r>
            <a:endParaRPr lang="en-IN" altLang="en-US"/>
          </a:p>
        </p:txBody>
      </p:sp>
      <p:sp>
        <p:nvSpPr>
          <p:cNvPr id="43" name="Right Brace 42"/>
          <p:cNvSpPr/>
          <p:nvPr/>
        </p:nvSpPr>
        <p:spPr>
          <a:xfrm>
            <a:off x="6821170" y="4572635"/>
            <a:ext cx="741045" cy="1197610"/>
          </a:xfrm>
          <a:prstGeom prst="rightBrace">
            <a:avLst/>
          </a:prstGeom>
        </p:spPr>
        <p:style>
          <a:lnRef idx="1">
            <a:schemeClr val="dk1"/>
          </a:lnRef>
          <a:fillRef idx="0">
            <a:schemeClr val="dk1"/>
          </a:fillRef>
          <a:effectRef idx="0">
            <a:schemeClr val="dk1"/>
          </a:effectRef>
          <a:fontRef idx="minor">
            <a:schemeClr val="tx1"/>
          </a:fontRef>
        </p:style>
        <p:txBody>
          <a:bodyPr rtlCol="0" anchor="ctr"/>
          <a:p>
            <a:pPr algn="ctr"/>
            <a:endParaRPr lang="en-US"/>
          </a:p>
        </p:txBody>
      </p:sp>
      <p:sp>
        <p:nvSpPr>
          <p:cNvPr id="44" name="Text Box 43"/>
          <p:cNvSpPr txBox="1"/>
          <p:nvPr/>
        </p:nvSpPr>
        <p:spPr>
          <a:xfrm>
            <a:off x="7633335" y="4987290"/>
            <a:ext cx="973455" cy="368300"/>
          </a:xfrm>
          <a:prstGeom prst="rect">
            <a:avLst/>
          </a:prstGeom>
          <a:noFill/>
        </p:spPr>
        <p:txBody>
          <a:bodyPr wrap="none" rtlCol="0">
            <a:spAutoFit/>
          </a:bodyPr>
          <a:p>
            <a:r>
              <a:rPr lang="en-IN" altLang="en-US"/>
              <a:t>Relay 5V</a:t>
            </a:r>
            <a:endParaRPr lang="en-IN" altLang="en-US"/>
          </a:p>
        </p:txBody>
      </p:sp>
      <p:sp>
        <p:nvSpPr>
          <p:cNvPr id="45" name="Text Box 44"/>
          <p:cNvSpPr txBox="1"/>
          <p:nvPr/>
        </p:nvSpPr>
        <p:spPr>
          <a:xfrm>
            <a:off x="9558655" y="2058035"/>
            <a:ext cx="799465" cy="645160"/>
          </a:xfrm>
          <a:prstGeom prst="rect">
            <a:avLst/>
          </a:prstGeom>
          <a:noFill/>
        </p:spPr>
        <p:txBody>
          <a:bodyPr wrap="none" rtlCol="0">
            <a:spAutoFit/>
          </a:bodyPr>
          <a:p>
            <a:r>
              <a:rPr lang="en-IN" altLang="en-US"/>
              <a:t>Ext.</a:t>
            </a:r>
            <a:endParaRPr lang="en-IN" altLang="en-US"/>
          </a:p>
          <a:p>
            <a:r>
              <a:rPr lang="en-IN" altLang="en-US"/>
              <a:t>source</a:t>
            </a:r>
            <a:endParaRPr lang="en-IN" altLang="en-US"/>
          </a:p>
        </p:txBody>
      </p:sp>
      <p:sp>
        <p:nvSpPr>
          <p:cNvPr id="46" name="Text Box 45"/>
          <p:cNvSpPr txBox="1"/>
          <p:nvPr/>
        </p:nvSpPr>
        <p:spPr>
          <a:xfrm>
            <a:off x="7888605" y="2141855"/>
            <a:ext cx="718185" cy="645160"/>
          </a:xfrm>
          <a:prstGeom prst="rect">
            <a:avLst/>
          </a:prstGeom>
          <a:noFill/>
        </p:spPr>
        <p:txBody>
          <a:bodyPr wrap="none" rtlCol="0">
            <a:spAutoFit/>
          </a:bodyPr>
          <a:p>
            <a:r>
              <a:rPr lang="en-IN" altLang="en-US"/>
              <a:t>DC</a:t>
            </a:r>
            <a:endParaRPr lang="en-IN" altLang="en-US"/>
          </a:p>
          <a:p>
            <a:r>
              <a:rPr lang="en-IN" altLang="en-US"/>
              <a:t>Loads</a:t>
            </a:r>
            <a:endParaRPr lang="en-IN" altLang="en-US"/>
          </a:p>
        </p:txBody>
      </p:sp>
      <p:cxnSp>
        <p:nvCxnSpPr>
          <p:cNvPr id="49" name="Straight Connector 48"/>
          <p:cNvCxnSpPr/>
          <p:nvPr/>
        </p:nvCxnSpPr>
        <p:spPr>
          <a:xfrm flipV="1">
            <a:off x="5623560" y="1638935"/>
            <a:ext cx="4293870" cy="10160"/>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5659120" y="3161665"/>
            <a:ext cx="4431030" cy="1016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p:cNvCxnSpPr>
            <a:endCxn id="45" idx="0"/>
          </p:cNvCxnSpPr>
          <p:nvPr/>
        </p:nvCxnSpPr>
        <p:spPr>
          <a:xfrm>
            <a:off x="9937750" y="1618615"/>
            <a:ext cx="20955" cy="439420"/>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flipH="1" flipV="1">
            <a:off x="10061575" y="2725420"/>
            <a:ext cx="8255" cy="446405"/>
          </a:xfrm>
          <a:prstGeom prst="line">
            <a:avLst/>
          </a:prstGeom>
        </p:spPr>
        <p:style>
          <a:lnRef idx="1">
            <a:schemeClr val="dk1"/>
          </a:lnRef>
          <a:fillRef idx="0">
            <a:schemeClr val="dk1"/>
          </a:fillRef>
          <a:effectRef idx="0">
            <a:schemeClr val="dk1"/>
          </a:effectRef>
          <a:fontRef idx="minor">
            <a:schemeClr val="tx1"/>
          </a:fontRef>
        </p:style>
      </p:cxn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000">
                <a:latin typeface="Times New Roman" panose="02020603050405020304" charset="0"/>
                <a:cs typeface="Times New Roman" panose="02020603050405020304" charset="0"/>
              </a:rPr>
              <a:t>COMPONENT DESIGN</a:t>
            </a:r>
            <a:endParaRPr lang="en-US" sz="4000">
              <a:latin typeface="Times New Roman" panose="02020603050405020304" charset="0"/>
              <a:cs typeface="Times New Roman" panose="02020603050405020304" charset="0"/>
            </a:endParaRPr>
          </a:p>
        </p:txBody>
      </p:sp>
      <p:sp>
        <p:nvSpPr>
          <p:cNvPr id="3" name="Content Placeholder 2"/>
          <p:cNvSpPr>
            <a:spLocks noGrp="1"/>
          </p:cNvSpPr>
          <p:nvPr>
            <p:ph sz="half" idx="1"/>
          </p:nvPr>
        </p:nvSpPr>
        <p:spPr>
          <a:xfrm>
            <a:off x="838200" y="1825625"/>
            <a:ext cx="10688955" cy="4351655"/>
          </a:xfrm>
        </p:spPr>
        <p:txBody>
          <a:bodyPr>
            <a:normAutofit lnSpcReduction="10000"/>
          </a:bodyPr>
          <a:p>
            <a:r>
              <a:rPr lang="en-US">
                <a:latin typeface="Times New Roman" panose="02020603050405020304" charset="0"/>
                <a:cs typeface="Times New Roman" panose="02020603050405020304" charset="0"/>
              </a:rPr>
              <a:t>Inductors selection:</a:t>
            </a:r>
            <a:r>
              <a:rPr lang="en-IN" altLang="en-US">
                <a:latin typeface="Times New Roman" panose="02020603050405020304" charset="0"/>
                <a:cs typeface="Times New Roman" panose="02020603050405020304" charset="0"/>
              </a:rPr>
              <a:t> </a:t>
            </a:r>
            <a:r>
              <a:rPr lang="en-US">
                <a:latin typeface="Times New Roman" panose="02020603050405020304" charset="0"/>
                <a:cs typeface="Times New Roman" panose="02020603050405020304" charset="0"/>
              </a:rPr>
              <a:t>During on state of the switch, the value of current ripple of the inductor over a cycle is expressed as,</a:t>
            </a: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From the above equation, the inductor L is selected as,</a:t>
            </a: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The inductor is chosen by assuming the current ripple of </a:t>
            </a:r>
            <a:r>
              <a:rPr lang="en-IN" altLang="en-US">
                <a:latin typeface="Times New Roman" panose="02020603050405020304" charset="0"/>
                <a:cs typeface="Times New Roman" panose="02020603050405020304" charset="0"/>
              </a:rPr>
              <a:t> </a:t>
            </a:r>
            <a:r>
              <a:rPr lang="en-US">
                <a:latin typeface="Times New Roman" panose="02020603050405020304" charset="0"/>
                <a:cs typeface="Times New Roman" panose="02020603050405020304" charset="0"/>
              </a:rPr>
              <a:t>&lt;10% in CCM operation.</a:t>
            </a: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pic>
        <p:nvPicPr>
          <p:cNvPr id="4" name="Content Placeholder 3"/>
          <p:cNvPicPr>
            <a:picLocks noChangeAspect="1"/>
          </p:cNvPicPr>
          <p:nvPr>
            <p:ph sz="half" idx="2"/>
          </p:nvPr>
        </p:nvPicPr>
        <p:blipFill>
          <a:blip r:embed="rId1"/>
          <a:stretch>
            <a:fillRect/>
          </a:stretch>
        </p:blipFill>
        <p:spPr>
          <a:xfrm>
            <a:off x="3707130" y="2690495"/>
            <a:ext cx="4638675" cy="819785"/>
          </a:xfrm>
          <a:prstGeom prst="rect">
            <a:avLst/>
          </a:prstGeom>
        </p:spPr>
      </p:pic>
      <p:pic>
        <p:nvPicPr>
          <p:cNvPr id="5" name="Picture 4"/>
          <p:cNvPicPr>
            <a:picLocks noChangeAspect="1"/>
          </p:cNvPicPr>
          <p:nvPr/>
        </p:nvPicPr>
        <p:blipFill>
          <a:blip r:embed="rId2"/>
          <a:srcRect b="11586"/>
          <a:stretch>
            <a:fillRect/>
          </a:stretch>
        </p:blipFill>
        <p:spPr>
          <a:xfrm>
            <a:off x="4342765" y="4044950"/>
            <a:ext cx="4074795" cy="836295"/>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sz="4000">
                <a:latin typeface="Times New Roman" panose="02020603050405020304" charset="0"/>
                <a:cs typeface="Times New Roman" panose="02020603050405020304" charset="0"/>
                <a:sym typeface="+mn-ea"/>
              </a:rPr>
              <a:t>COMPONENT DESIGN</a:t>
            </a:r>
            <a:endParaRPr lang="en-US" sz="4000"/>
          </a:p>
        </p:txBody>
      </p:sp>
      <p:sp>
        <p:nvSpPr>
          <p:cNvPr id="3" name="Content Placeholder 2"/>
          <p:cNvSpPr>
            <a:spLocks noGrp="1"/>
          </p:cNvSpPr>
          <p:nvPr>
            <p:ph sz="half" idx="1"/>
          </p:nvPr>
        </p:nvSpPr>
        <p:spPr>
          <a:xfrm>
            <a:off x="838200" y="1825625"/>
            <a:ext cx="10515600" cy="4351655"/>
          </a:xfrm>
        </p:spPr>
        <p:txBody>
          <a:bodyPr/>
          <a:p>
            <a:r>
              <a:rPr lang="en-US">
                <a:latin typeface="Times New Roman" panose="02020603050405020304" charset="0"/>
                <a:cs typeface="Times New Roman" panose="02020603050405020304" charset="0"/>
              </a:rPr>
              <a:t>Capacitors selection: The capacitor C is charged during on state of the switch, and the stored energy in the capacitor is written as,</a:t>
            </a: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After simplifying, the capacitance is expressed as,</a:t>
            </a:r>
            <a:endParaRPr lang="en-US">
              <a:latin typeface="Times New Roman" panose="02020603050405020304" charset="0"/>
              <a:cs typeface="Times New Roman" panose="02020603050405020304" charset="0"/>
            </a:endParaRPr>
          </a:p>
        </p:txBody>
      </p:sp>
      <p:pic>
        <p:nvPicPr>
          <p:cNvPr id="5" name="Content Placeholder 4"/>
          <p:cNvPicPr>
            <a:picLocks noChangeAspect="1"/>
          </p:cNvPicPr>
          <p:nvPr>
            <p:ph sz="half" idx="2"/>
          </p:nvPr>
        </p:nvPicPr>
        <p:blipFill>
          <a:blip r:embed="rId1"/>
          <a:srcRect t="9425"/>
          <a:stretch>
            <a:fillRect/>
          </a:stretch>
        </p:blipFill>
        <p:spPr>
          <a:xfrm>
            <a:off x="4311015" y="2896235"/>
            <a:ext cx="3801745" cy="689610"/>
          </a:xfrm>
          <a:prstGeom prst="rect">
            <a:avLst/>
          </a:prstGeom>
        </p:spPr>
      </p:pic>
      <p:pic>
        <p:nvPicPr>
          <p:cNvPr id="6" name="Picture 5"/>
          <p:cNvPicPr>
            <a:picLocks noChangeAspect="1"/>
          </p:cNvPicPr>
          <p:nvPr/>
        </p:nvPicPr>
        <p:blipFill>
          <a:blip r:embed="rId2"/>
          <a:stretch>
            <a:fillRect/>
          </a:stretch>
        </p:blipFill>
        <p:spPr>
          <a:xfrm>
            <a:off x="5026660" y="4584065"/>
            <a:ext cx="2593340" cy="944880"/>
          </a:xfrm>
          <a:prstGeom prst="rect">
            <a:avLst/>
          </a:prstGeom>
        </p:spPr>
      </p:pic>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42645" y="161290"/>
            <a:ext cx="10515600" cy="1235075"/>
          </a:xfrm>
        </p:spPr>
        <p:txBody>
          <a:bodyPr/>
          <a:p>
            <a:pPr algn="ctr"/>
            <a:r>
              <a:rPr lang="en-IN" altLang="en-US" sz="4000">
                <a:latin typeface="Times New Roman" panose="02020603050405020304" charset="0"/>
                <a:cs typeface="Times New Roman" panose="02020603050405020304" charset="0"/>
              </a:rPr>
              <a:t>SIMULINK MODEL</a:t>
            </a:r>
            <a:endParaRPr lang="en-IN" altLang="en-US" sz="4000">
              <a:latin typeface="Times New Roman" panose="02020603050405020304" charset="0"/>
              <a:cs typeface="Times New Roman" panose="02020603050405020304" charset="0"/>
            </a:endParaRPr>
          </a:p>
        </p:txBody>
      </p:sp>
      <p:pic>
        <p:nvPicPr>
          <p:cNvPr id="4" name="Content Placeholder 3" descr="Screenshot (2)"/>
          <p:cNvPicPr>
            <a:picLocks noChangeAspect="1"/>
          </p:cNvPicPr>
          <p:nvPr>
            <p:ph idx="1"/>
          </p:nvPr>
        </p:nvPicPr>
        <p:blipFill>
          <a:blip r:embed="rId1"/>
          <a:srcRect t="1556"/>
          <a:stretch>
            <a:fillRect/>
          </a:stretch>
        </p:blipFill>
        <p:spPr>
          <a:xfrm>
            <a:off x="835660" y="1226820"/>
            <a:ext cx="10520045" cy="514096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2245"/>
            <a:ext cx="10515600" cy="1153160"/>
          </a:xfrm>
        </p:spPr>
        <p:txBody>
          <a:bodyPr/>
          <a:p>
            <a:pPr algn="ctr"/>
            <a:r>
              <a:rPr lang="en-IN" altLang="en-US" sz="4000">
                <a:latin typeface="Times New Roman" panose="02020603050405020304" charset="0"/>
                <a:cs typeface="Times New Roman" panose="02020603050405020304" charset="0"/>
              </a:rPr>
              <a:t>SIMUL</a:t>
            </a:r>
            <a:r>
              <a:rPr lang="en-US" altLang="en-IN" sz="4000">
                <a:latin typeface="Times New Roman" panose="02020603050405020304" charset="0"/>
                <a:cs typeface="Times New Roman" panose="02020603050405020304" charset="0"/>
              </a:rPr>
              <a:t>ATION</a:t>
            </a:r>
            <a:r>
              <a:rPr lang="en-IN" altLang="en-US" sz="4000">
                <a:latin typeface="Times New Roman" panose="02020603050405020304" charset="0"/>
                <a:cs typeface="Times New Roman" panose="02020603050405020304" charset="0"/>
              </a:rPr>
              <a:t> RESULTS</a:t>
            </a:r>
            <a:endParaRPr lang="en-IN" altLang="en-US" sz="4000">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734695" y="1247140"/>
            <a:ext cx="10619105" cy="5001260"/>
          </a:xfrm>
          <a:prstGeom prst="rect">
            <a:avLst/>
          </a:prstGeom>
        </p:spPr>
      </p:pic>
      <p:sp>
        <p:nvSpPr>
          <p:cNvPr id="5" name="Text Box 4"/>
          <p:cNvSpPr txBox="1"/>
          <p:nvPr/>
        </p:nvSpPr>
        <p:spPr>
          <a:xfrm>
            <a:off x="5676265" y="6141720"/>
            <a:ext cx="839470" cy="306705"/>
          </a:xfrm>
          <a:prstGeom prst="rect">
            <a:avLst/>
          </a:prstGeom>
          <a:noFill/>
        </p:spPr>
        <p:txBody>
          <a:bodyPr wrap="none" rtlCol="0">
            <a:spAutoFit/>
          </a:bodyPr>
          <a:p>
            <a:r>
              <a:rPr lang="en-US" sz="1400">
                <a:latin typeface="Times New Roman" panose="02020603050405020304" charset="0"/>
                <a:cs typeface="Times New Roman" panose="02020603050405020304" charset="0"/>
              </a:rPr>
              <a:t>MODE 2</a:t>
            </a:r>
            <a:endParaRPr lang="en-US" sz="14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10920"/>
          </a:xfrm>
        </p:spPr>
        <p:txBody>
          <a:bodyPr>
            <a:normAutofit fontScale="90000"/>
          </a:bodyPr>
          <a:p>
            <a:pPr algn="ctr"/>
            <a:r>
              <a:rPr lang="en-IN" altLang="en-US">
                <a:latin typeface="Times New Roman" panose="02020603050405020304" charset="0"/>
                <a:cs typeface="Times New Roman" panose="02020603050405020304" charset="0"/>
                <a:sym typeface="+mn-ea"/>
              </a:rPr>
              <a:t>SIMUL</a:t>
            </a:r>
            <a:r>
              <a:rPr lang="en-US" altLang="en-IN">
                <a:latin typeface="Times New Roman" panose="02020603050405020304" charset="0"/>
                <a:cs typeface="Times New Roman" panose="02020603050405020304" charset="0"/>
                <a:sym typeface="+mn-ea"/>
              </a:rPr>
              <a:t>ATION</a:t>
            </a:r>
            <a:r>
              <a:rPr lang="en-IN" altLang="en-US">
                <a:latin typeface="Times New Roman" panose="02020603050405020304" charset="0"/>
                <a:cs typeface="Times New Roman" panose="02020603050405020304" charset="0"/>
                <a:sym typeface="+mn-ea"/>
              </a:rPr>
              <a:t> RESULTS</a:t>
            </a:r>
            <a:br>
              <a:rPr lang="en-IN" altLang="en-US">
                <a:latin typeface="Times New Roman" panose="02020603050405020304" charset="0"/>
                <a:cs typeface="Times New Roman" panose="02020603050405020304" charset="0"/>
              </a:rPr>
            </a:br>
            <a:endParaRPr lang="en-US"/>
          </a:p>
        </p:txBody>
      </p:sp>
      <p:pic>
        <p:nvPicPr>
          <p:cNvPr id="4" name="Content Placeholder 3"/>
          <p:cNvPicPr>
            <a:picLocks noChangeAspect="1"/>
          </p:cNvPicPr>
          <p:nvPr>
            <p:ph idx="1"/>
          </p:nvPr>
        </p:nvPicPr>
        <p:blipFill>
          <a:blip r:embed="rId1"/>
          <a:stretch>
            <a:fillRect/>
          </a:stretch>
        </p:blipFill>
        <p:spPr>
          <a:xfrm>
            <a:off x="1057910" y="1065530"/>
            <a:ext cx="10076180" cy="5113655"/>
          </a:xfrm>
          <a:prstGeom prst="rect">
            <a:avLst/>
          </a:prstGeom>
        </p:spPr>
      </p:pic>
      <p:sp>
        <p:nvSpPr>
          <p:cNvPr id="5" name="Text Box 4"/>
          <p:cNvSpPr txBox="1"/>
          <p:nvPr/>
        </p:nvSpPr>
        <p:spPr>
          <a:xfrm>
            <a:off x="5676265" y="5979160"/>
            <a:ext cx="839470" cy="306705"/>
          </a:xfrm>
          <a:prstGeom prst="rect">
            <a:avLst/>
          </a:prstGeom>
          <a:noFill/>
        </p:spPr>
        <p:txBody>
          <a:bodyPr wrap="none" rtlCol="0">
            <a:spAutoFit/>
          </a:bodyPr>
          <a:p>
            <a:r>
              <a:rPr lang="en-US" sz="1400">
                <a:latin typeface="Times New Roman" panose="02020603050405020304" charset="0"/>
                <a:cs typeface="Times New Roman" panose="02020603050405020304" charset="0"/>
              </a:rPr>
              <a:t>MODE 3</a:t>
            </a:r>
            <a:endParaRPr lang="en-US" sz="14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30910"/>
          </a:xfrm>
        </p:spPr>
        <p:txBody>
          <a:bodyPr/>
          <a:p>
            <a:pPr algn="ctr"/>
            <a:r>
              <a:rPr lang="en-IN" altLang="en-US">
                <a:latin typeface="Times New Roman" panose="02020603050405020304" charset="0"/>
                <a:cs typeface="Times New Roman" panose="02020603050405020304" charset="0"/>
                <a:sym typeface="+mn-ea"/>
              </a:rPr>
              <a:t>SIMUL</a:t>
            </a:r>
            <a:r>
              <a:rPr lang="en-US" altLang="en-IN">
                <a:latin typeface="Times New Roman" panose="02020603050405020304" charset="0"/>
                <a:cs typeface="Times New Roman" panose="02020603050405020304" charset="0"/>
                <a:sym typeface="+mn-ea"/>
              </a:rPr>
              <a:t>ATION</a:t>
            </a:r>
            <a:r>
              <a:rPr lang="en-IN" altLang="en-US">
                <a:latin typeface="Times New Roman" panose="02020603050405020304" charset="0"/>
                <a:cs typeface="Times New Roman" panose="02020603050405020304" charset="0"/>
                <a:sym typeface="+mn-ea"/>
              </a:rPr>
              <a:t> RESULTS</a:t>
            </a:r>
            <a:endParaRPr lang="en-US"/>
          </a:p>
        </p:txBody>
      </p:sp>
      <p:pic>
        <p:nvPicPr>
          <p:cNvPr id="5" name="Content Placeholder 4"/>
          <p:cNvPicPr>
            <a:picLocks noChangeAspect="1"/>
          </p:cNvPicPr>
          <p:nvPr>
            <p:ph idx="1"/>
          </p:nvPr>
        </p:nvPicPr>
        <p:blipFill>
          <a:blip r:embed="rId1"/>
          <a:stretch>
            <a:fillRect/>
          </a:stretch>
        </p:blipFill>
        <p:spPr>
          <a:xfrm>
            <a:off x="1329055" y="1054100"/>
            <a:ext cx="9533890" cy="5196205"/>
          </a:xfrm>
          <a:prstGeom prst="rect">
            <a:avLst/>
          </a:prstGeom>
        </p:spPr>
      </p:pic>
      <p:sp>
        <p:nvSpPr>
          <p:cNvPr id="6" name="Text Box 5"/>
          <p:cNvSpPr txBox="1"/>
          <p:nvPr/>
        </p:nvSpPr>
        <p:spPr>
          <a:xfrm>
            <a:off x="5676265" y="6080760"/>
            <a:ext cx="839470" cy="306705"/>
          </a:xfrm>
          <a:prstGeom prst="rect">
            <a:avLst/>
          </a:prstGeom>
          <a:noFill/>
        </p:spPr>
        <p:txBody>
          <a:bodyPr wrap="none" rtlCol="0">
            <a:spAutoFit/>
          </a:bodyPr>
          <a:p>
            <a:r>
              <a:rPr lang="en-US" sz="1400">
                <a:latin typeface="Times New Roman" panose="02020603050405020304" charset="0"/>
                <a:cs typeface="Times New Roman" panose="02020603050405020304" charset="0"/>
              </a:rPr>
              <a:t>MODE 4</a:t>
            </a:r>
            <a:endParaRPr lang="en-US" sz="14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70915"/>
          </a:xfrm>
        </p:spPr>
        <p:txBody>
          <a:bodyPr>
            <a:normAutofit/>
          </a:bodyPr>
          <a:p>
            <a:pPr algn="ctr"/>
            <a:r>
              <a:rPr lang="en-IN" altLang="en-US">
                <a:latin typeface="Times New Roman" panose="02020603050405020304" charset="0"/>
                <a:cs typeface="Times New Roman" panose="02020603050405020304" charset="0"/>
                <a:sym typeface="+mn-ea"/>
              </a:rPr>
              <a:t>SIMUL</a:t>
            </a:r>
            <a:r>
              <a:rPr lang="en-US" altLang="en-IN">
                <a:latin typeface="Times New Roman" panose="02020603050405020304" charset="0"/>
                <a:cs typeface="Times New Roman" panose="02020603050405020304" charset="0"/>
                <a:sym typeface="+mn-ea"/>
              </a:rPr>
              <a:t>ATION</a:t>
            </a:r>
            <a:r>
              <a:rPr lang="en-IN" altLang="en-US">
                <a:latin typeface="Times New Roman" panose="02020603050405020304" charset="0"/>
                <a:cs typeface="Times New Roman" panose="02020603050405020304" charset="0"/>
                <a:sym typeface="+mn-ea"/>
              </a:rPr>
              <a:t> RESULTS</a:t>
            </a:r>
            <a:endParaRPr lang="en-US"/>
          </a:p>
        </p:txBody>
      </p:sp>
      <p:pic>
        <p:nvPicPr>
          <p:cNvPr id="4" name="Content Placeholder 3"/>
          <p:cNvPicPr>
            <a:picLocks noChangeAspect="1"/>
          </p:cNvPicPr>
          <p:nvPr>
            <p:ph idx="1"/>
          </p:nvPr>
        </p:nvPicPr>
        <p:blipFill>
          <a:blip r:embed="rId1"/>
          <a:stretch>
            <a:fillRect/>
          </a:stretch>
        </p:blipFill>
        <p:spPr>
          <a:xfrm>
            <a:off x="1042670" y="1068705"/>
            <a:ext cx="10107295" cy="5193030"/>
          </a:xfrm>
          <a:prstGeom prst="rect">
            <a:avLst/>
          </a:prstGeom>
        </p:spPr>
      </p:pic>
      <p:sp>
        <p:nvSpPr>
          <p:cNvPr id="5" name="Text Box 4"/>
          <p:cNvSpPr txBox="1"/>
          <p:nvPr/>
        </p:nvSpPr>
        <p:spPr>
          <a:xfrm>
            <a:off x="5676265" y="6070600"/>
            <a:ext cx="839470" cy="306705"/>
          </a:xfrm>
          <a:prstGeom prst="rect">
            <a:avLst/>
          </a:prstGeom>
          <a:noFill/>
        </p:spPr>
        <p:txBody>
          <a:bodyPr wrap="none" rtlCol="0">
            <a:spAutoFit/>
          </a:bodyPr>
          <a:p>
            <a:r>
              <a:rPr lang="en-US" sz="1400">
                <a:latin typeface="Times New Roman" panose="02020603050405020304" charset="0"/>
                <a:cs typeface="Times New Roman" panose="02020603050405020304" charset="0"/>
              </a:rPr>
              <a:t>MODE 5</a:t>
            </a:r>
            <a:endParaRPr lang="en-US" sz="14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41070"/>
          </a:xfrm>
        </p:spPr>
        <p:txBody>
          <a:bodyPr/>
          <a:p>
            <a:pPr algn="ctr"/>
            <a:r>
              <a:rPr lang="en-IN" altLang="en-US">
                <a:latin typeface="Times New Roman" panose="02020603050405020304" charset="0"/>
                <a:cs typeface="Times New Roman" panose="02020603050405020304" charset="0"/>
                <a:sym typeface="+mn-ea"/>
              </a:rPr>
              <a:t>SIMUL</a:t>
            </a:r>
            <a:r>
              <a:rPr lang="en-US" altLang="en-IN">
                <a:latin typeface="Times New Roman" panose="02020603050405020304" charset="0"/>
                <a:cs typeface="Times New Roman" panose="02020603050405020304" charset="0"/>
                <a:sym typeface="+mn-ea"/>
              </a:rPr>
              <a:t>ATION</a:t>
            </a:r>
            <a:r>
              <a:rPr lang="en-IN" altLang="en-US">
                <a:latin typeface="Times New Roman" panose="02020603050405020304" charset="0"/>
                <a:cs typeface="Times New Roman" panose="02020603050405020304" charset="0"/>
                <a:sym typeface="+mn-ea"/>
              </a:rPr>
              <a:t> RESULTS</a:t>
            </a:r>
            <a:endParaRPr lang="en-US"/>
          </a:p>
        </p:txBody>
      </p:sp>
      <p:pic>
        <p:nvPicPr>
          <p:cNvPr id="4" name="Content Placeholder 3"/>
          <p:cNvPicPr>
            <a:picLocks noChangeAspect="1"/>
          </p:cNvPicPr>
          <p:nvPr>
            <p:ph idx="1"/>
          </p:nvPr>
        </p:nvPicPr>
        <p:blipFill>
          <a:blip r:embed="rId1"/>
          <a:stretch>
            <a:fillRect/>
          </a:stretch>
        </p:blipFill>
        <p:spPr>
          <a:xfrm>
            <a:off x="1589405" y="1174115"/>
            <a:ext cx="9013825" cy="4871085"/>
          </a:xfrm>
          <a:prstGeom prst="rect">
            <a:avLst/>
          </a:prstGeom>
        </p:spPr>
      </p:pic>
      <p:sp>
        <p:nvSpPr>
          <p:cNvPr id="5" name="Text Box 4"/>
          <p:cNvSpPr txBox="1"/>
          <p:nvPr/>
        </p:nvSpPr>
        <p:spPr>
          <a:xfrm>
            <a:off x="5537200" y="6045200"/>
            <a:ext cx="1532255" cy="306705"/>
          </a:xfrm>
          <a:prstGeom prst="rect">
            <a:avLst/>
          </a:prstGeom>
          <a:noFill/>
        </p:spPr>
        <p:txBody>
          <a:bodyPr wrap="none" rtlCol="0">
            <a:spAutoFit/>
          </a:bodyPr>
          <a:p>
            <a:r>
              <a:rPr lang="en-US" sz="1400">
                <a:latin typeface="Times New Roman" panose="02020603050405020304" charset="0"/>
                <a:cs typeface="Times New Roman" panose="02020603050405020304" charset="0"/>
              </a:rPr>
              <a:t>MOTOR CHARA.</a:t>
            </a:r>
            <a:endParaRPr lang="en-US" sz="14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20750"/>
          </a:xfrm>
        </p:spPr>
        <p:txBody>
          <a:bodyPr>
            <a:normAutofit/>
          </a:bodyPr>
          <a:p>
            <a:pPr algn="ctr"/>
            <a:r>
              <a:rPr lang="en-IN" altLang="en-US">
                <a:latin typeface="Times New Roman" panose="02020603050405020304" charset="0"/>
                <a:cs typeface="Times New Roman" panose="02020603050405020304" charset="0"/>
                <a:sym typeface="+mn-ea"/>
              </a:rPr>
              <a:t>SIMUL</a:t>
            </a:r>
            <a:r>
              <a:rPr lang="en-US" altLang="en-IN">
                <a:latin typeface="Times New Roman" panose="02020603050405020304" charset="0"/>
                <a:cs typeface="Times New Roman" panose="02020603050405020304" charset="0"/>
                <a:sym typeface="+mn-ea"/>
              </a:rPr>
              <a:t>ATION</a:t>
            </a:r>
            <a:r>
              <a:rPr lang="en-IN" altLang="en-US">
                <a:latin typeface="Times New Roman" panose="02020603050405020304" charset="0"/>
                <a:cs typeface="Times New Roman" panose="02020603050405020304" charset="0"/>
                <a:sym typeface="+mn-ea"/>
              </a:rPr>
              <a:t> RESULTS</a:t>
            </a:r>
            <a:endParaRPr lang="en-US"/>
          </a:p>
        </p:txBody>
      </p:sp>
      <p:pic>
        <p:nvPicPr>
          <p:cNvPr id="4" name="Content Placeholder 3"/>
          <p:cNvPicPr>
            <a:picLocks noChangeAspect="1"/>
          </p:cNvPicPr>
          <p:nvPr>
            <p:ph idx="1"/>
          </p:nvPr>
        </p:nvPicPr>
        <p:blipFill>
          <a:blip r:embed="rId1"/>
          <a:stretch>
            <a:fillRect/>
          </a:stretch>
        </p:blipFill>
        <p:spPr>
          <a:xfrm>
            <a:off x="1506855" y="1285875"/>
            <a:ext cx="9178925" cy="4787900"/>
          </a:xfrm>
          <a:prstGeom prst="rect">
            <a:avLst/>
          </a:prstGeom>
        </p:spPr>
      </p:pic>
      <p:sp>
        <p:nvSpPr>
          <p:cNvPr id="5" name="Text Box 4"/>
          <p:cNvSpPr txBox="1"/>
          <p:nvPr/>
        </p:nvSpPr>
        <p:spPr>
          <a:xfrm>
            <a:off x="5720715" y="6181725"/>
            <a:ext cx="1603375" cy="337185"/>
          </a:xfrm>
          <a:prstGeom prst="rect">
            <a:avLst/>
          </a:prstGeom>
          <a:noFill/>
        </p:spPr>
        <p:txBody>
          <a:bodyPr wrap="none" rtlCol="0">
            <a:spAutoFit/>
          </a:bodyPr>
          <a:p>
            <a:r>
              <a:rPr lang="en-US" sz="1600">
                <a:latin typeface="Times New Roman" panose="02020603050405020304" charset="0"/>
                <a:cs typeface="Times New Roman" panose="02020603050405020304" charset="0"/>
              </a:rPr>
              <a:t>REGENRATION</a:t>
            </a:r>
            <a:endParaRPr lang="en-US" sz="16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93115" y="306705"/>
            <a:ext cx="10515600" cy="1103630"/>
          </a:xfrm>
        </p:spPr>
        <p:txBody>
          <a:bodyPr>
            <a:normAutofit/>
          </a:bodyPr>
          <a:p>
            <a:pPr algn="ctr"/>
            <a:r>
              <a:rPr lang="en-IN" altLang="en-US">
                <a:latin typeface="Times New Roman" panose="02020603050405020304" charset="0"/>
                <a:cs typeface="Times New Roman" panose="02020603050405020304" charset="0"/>
                <a:sym typeface="+mn-ea"/>
              </a:rPr>
              <a:t>HARDWARE IMPLIMENTATION</a:t>
            </a:r>
            <a:endParaRPr lang="en-US"/>
          </a:p>
        </p:txBody>
      </p:sp>
      <p:pic>
        <p:nvPicPr>
          <p:cNvPr id="7" name="Content Placeholder 6"/>
          <p:cNvPicPr>
            <a:picLocks noChangeAspect="1"/>
          </p:cNvPicPr>
          <p:nvPr>
            <p:ph sz="half" idx="1"/>
          </p:nvPr>
        </p:nvPicPr>
        <p:blipFill>
          <a:blip r:embed="rId1">
            <a:extLst>
              <a:ext uri="{28A0092B-C50C-407E-A947-70E740481C1C}">
                <a14:useLocalDpi xmlns:a14="http://schemas.microsoft.com/office/drawing/2010/main" val="0"/>
              </a:ext>
            </a:extLst>
          </a:blip>
          <a:stretch>
            <a:fillRect/>
          </a:stretch>
        </p:blipFill>
        <p:spPr>
          <a:xfrm rot="5400000">
            <a:off x="377825" y="2268855"/>
            <a:ext cx="5050155" cy="3333750"/>
          </a:xfrm>
          <a:prstGeom prst="rect">
            <a:avLst/>
          </a:prstGeom>
        </p:spPr>
      </p:pic>
      <p:sp>
        <p:nvSpPr>
          <p:cNvPr id="4" name="Text Box 3"/>
          <p:cNvSpPr txBox="1"/>
          <p:nvPr/>
        </p:nvSpPr>
        <p:spPr>
          <a:xfrm>
            <a:off x="5527040" y="1691005"/>
            <a:ext cx="3328670" cy="583565"/>
          </a:xfrm>
          <a:prstGeom prst="rect">
            <a:avLst/>
          </a:prstGeom>
          <a:noFill/>
        </p:spPr>
        <p:txBody>
          <a:bodyPr wrap="none" rtlCol="0">
            <a:spAutoFit/>
          </a:bodyPr>
          <a:p>
            <a:r>
              <a:rPr lang="en-IN" altLang="en-US" sz="3200">
                <a:latin typeface="Times New Roman" panose="02020603050405020304" charset="0"/>
                <a:cs typeface="Times New Roman" panose="02020603050405020304" charset="0"/>
              </a:rPr>
              <a:t>1) SOLAR PANEL</a:t>
            </a:r>
            <a:endParaRPr lang="en-IN" altLang="en-US" sz="3200">
              <a:latin typeface="Times New Roman" panose="02020603050405020304" charset="0"/>
              <a:cs typeface="Times New Roman" panose="02020603050405020304" charset="0"/>
            </a:endParaRPr>
          </a:p>
        </p:txBody>
      </p:sp>
      <p:sp>
        <p:nvSpPr>
          <p:cNvPr id="9" name="Text Box 8"/>
          <p:cNvSpPr txBox="1"/>
          <p:nvPr/>
        </p:nvSpPr>
        <p:spPr>
          <a:xfrm>
            <a:off x="5245735" y="2515870"/>
            <a:ext cx="6062980" cy="3592195"/>
          </a:xfrm>
          <a:prstGeom prst="rect">
            <a:avLst/>
          </a:prstGeom>
          <a:noFill/>
        </p:spPr>
        <p:txBody>
          <a:bodyPr wrap="none" rtlCol="0">
            <a:spAutoFit/>
          </a:bodyPr>
          <a:p>
            <a:pPr marL="6350" indent="-6350" algn="just">
              <a:lnSpc>
                <a:spcPct val="110000"/>
              </a:lnSpc>
              <a:spcAft>
                <a:spcPts val="1575"/>
              </a:spcAft>
            </a:pPr>
            <a:r>
              <a:rPr lang="en-GB" dirty="0">
                <a:solidFill>
                  <a:srgbClr val="000000"/>
                </a:solidFill>
                <a:effectLst/>
                <a:latin typeface="Times New Roman" panose="02020603050405020304" charset="0"/>
                <a:ea typeface="Calibri" panose="020F0502020204030204" charset="0"/>
                <a:cs typeface="Times New Roman" panose="02020603050405020304" charset="0"/>
                <a:sym typeface="+mn-ea"/>
              </a:rPr>
              <a:t>we are using a solar panel of the below mentioned specification:</a:t>
            </a:r>
            <a:endParaRPr lang="en-IN" dirty="0">
              <a:solidFill>
                <a:srgbClr val="000000"/>
              </a:solidFill>
              <a:effectLst/>
              <a:latin typeface="Times New Roman" panose="02020603050405020304" charset="0"/>
              <a:ea typeface="Calibri" panose="020F0502020204030204" charset="0"/>
              <a:cs typeface="Times New Roman" panose="02020603050405020304" charset="0"/>
            </a:endParaRPr>
          </a:p>
          <a:p>
            <a:pPr marL="342900" lvl="0" indent="-342900" algn="just" fontAlgn="base">
              <a:lnSpc>
                <a:spcPct val="110000"/>
              </a:lnSpc>
              <a:spcAft>
                <a:spcPts val="1575"/>
              </a:spcAft>
              <a:buClr>
                <a:srgbClr val="000000"/>
              </a:buClr>
              <a:buSzPts val="1200"/>
              <a:buFont typeface="Arial" panose="020B0604020202020204" pitchFamily="34" charset="0"/>
              <a:buChar char="•"/>
            </a:pPr>
            <a:r>
              <a:rPr lang="en-GB"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sym typeface="+mn-ea"/>
              </a:rPr>
              <a:t>Rated power : 15 W</a:t>
            </a:r>
            <a:endParaRPr lang="en-IN" u="none" strike="noStrike"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endParaRPr>
          </a:p>
          <a:p>
            <a:pPr marL="342900" lvl="0" indent="-342900" algn="just" fontAlgn="base">
              <a:lnSpc>
                <a:spcPct val="110000"/>
              </a:lnSpc>
              <a:spcAft>
                <a:spcPts val="1575"/>
              </a:spcAft>
              <a:buClr>
                <a:srgbClr val="000000"/>
              </a:buClr>
              <a:buSzPts val="1200"/>
              <a:buFont typeface="Arial" panose="020B0604020202020204" pitchFamily="34" charset="0"/>
              <a:buChar char="•"/>
            </a:pPr>
            <a:r>
              <a:rPr lang="en-GB"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sym typeface="+mn-ea"/>
              </a:rPr>
              <a:t>Open Circuit Voltage : 22 V</a:t>
            </a:r>
            <a:endParaRPr lang="en-IN" u="none" strike="noStrike"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endParaRPr>
          </a:p>
          <a:p>
            <a:pPr marL="342900" lvl="0" indent="-342900" algn="just" fontAlgn="base">
              <a:lnSpc>
                <a:spcPct val="110000"/>
              </a:lnSpc>
              <a:spcAft>
                <a:spcPts val="1575"/>
              </a:spcAft>
              <a:buClr>
                <a:srgbClr val="000000"/>
              </a:buClr>
              <a:buSzPts val="1200"/>
              <a:buFont typeface="Arial" panose="020B0604020202020204" pitchFamily="34" charset="0"/>
              <a:buChar char="•"/>
            </a:pPr>
            <a:r>
              <a:rPr lang="en-GB"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sym typeface="+mn-ea"/>
              </a:rPr>
              <a:t>Short Circuit Current : 0.870A</a:t>
            </a:r>
            <a:endParaRPr lang="en-IN" u="none" strike="noStrike"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endParaRPr>
          </a:p>
          <a:p>
            <a:pPr marL="342900" lvl="0" indent="-342900" algn="just" fontAlgn="base">
              <a:lnSpc>
                <a:spcPct val="110000"/>
              </a:lnSpc>
              <a:spcAft>
                <a:spcPts val="1575"/>
              </a:spcAft>
              <a:buClr>
                <a:srgbClr val="000000"/>
              </a:buClr>
              <a:buSzPts val="1200"/>
              <a:buFont typeface="Arial" panose="020B0604020202020204" pitchFamily="34" charset="0"/>
              <a:buChar char="•"/>
            </a:pPr>
            <a:r>
              <a:rPr lang="en-GB"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sym typeface="+mn-ea"/>
              </a:rPr>
              <a:t>Voltage at Maximum Power : 18 V</a:t>
            </a:r>
            <a:endParaRPr lang="en-IN" u="none" strike="noStrike"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endParaRPr>
          </a:p>
          <a:p>
            <a:pPr marL="342900" lvl="0" indent="-342900" algn="just" fontAlgn="base">
              <a:lnSpc>
                <a:spcPct val="110000"/>
              </a:lnSpc>
              <a:spcAft>
                <a:spcPts val="3015"/>
              </a:spcAft>
              <a:buClr>
                <a:srgbClr val="000000"/>
              </a:buClr>
              <a:buSzPts val="1200"/>
              <a:buFont typeface="Arial" panose="020B0604020202020204" pitchFamily="34" charset="0"/>
              <a:buChar char="•"/>
            </a:pPr>
            <a:r>
              <a:rPr lang="en-GB"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sym typeface="+mn-ea"/>
              </a:rPr>
              <a:t>Current at Maximum Power : 0.84 A</a:t>
            </a:r>
            <a:endParaRPr lang="en-IN" u="none" strike="noStrike" dirty="0">
              <a:solidFill>
                <a:srgbClr val="000000"/>
              </a:solidFill>
              <a:effectLst/>
              <a:uFill>
                <a:solidFill>
                  <a:srgbClr val="000000"/>
                </a:solidFill>
              </a:uFill>
              <a:latin typeface="Times New Roman" panose="02020603050405020304" charset="0"/>
              <a:ea typeface="Calibri" panose="020F0502020204030204" charset="0"/>
              <a:cs typeface="Times New Roman" panose="02020603050405020304" charset="0"/>
            </a:endParaRPr>
          </a:p>
          <a:p>
            <a:endParaRPr lang="en-US">
              <a:latin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IN" altLang="en-US">
                <a:latin typeface="Times New Roman" panose="02020603050405020304" charset="0"/>
                <a:cs typeface="Times New Roman" panose="02020603050405020304" charset="0"/>
                <a:sym typeface="+mn-ea"/>
              </a:rPr>
              <a:t>HARDWARE IMPLIMENTATION</a:t>
            </a:r>
            <a:endParaRPr lang="en-US"/>
          </a:p>
        </p:txBody>
      </p:sp>
      <p:sp>
        <p:nvSpPr>
          <p:cNvPr id="4" name="Content Placeholder 3"/>
          <p:cNvSpPr>
            <a:spLocks noGrp="1"/>
          </p:cNvSpPr>
          <p:nvPr>
            <p:ph sz="half" idx="2"/>
          </p:nvPr>
        </p:nvSpPr>
        <p:spPr>
          <a:xfrm>
            <a:off x="6172200" y="1825625"/>
            <a:ext cx="5181600" cy="699770"/>
          </a:xfrm>
        </p:spPr>
        <p:txBody>
          <a:bodyPr/>
          <a:p>
            <a:pPr marL="0" indent="0">
              <a:buNone/>
            </a:pPr>
            <a:r>
              <a:rPr lang="en-IN" altLang="en-US" sz="3200">
                <a:latin typeface="Times New Roman" panose="02020603050405020304" charset="0"/>
                <a:cs typeface="Times New Roman" panose="02020603050405020304" charset="0"/>
              </a:rPr>
              <a:t>	2) BATTERY</a:t>
            </a:r>
            <a:endParaRPr lang="en-IN" altLang="en-US" sz="3200">
              <a:latin typeface="Times New Roman" panose="02020603050405020304" charset="0"/>
              <a:cs typeface="Times New Roman" panose="02020603050405020304" charset="0"/>
            </a:endParaRPr>
          </a:p>
          <a:p>
            <a:pPr marL="0" indent="0">
              <a:buNone/>
            </a:pPr>
            <a:endParaRPr lang="en-IN" altLang="en-US" sz="2400">
              <a:latin typeface="Times New Roman" panose="02020603050405020304" charset="0"/>
              <a:cs typeface="Times New Roman" panose="02020603050405020304" charset="0"/>
            </a:endParaRPr>
          </a:p>
        </p:txBody>
      </p:sp>
      <p:pic>
        <p:nvPicPr>
          <p:cNvPr id="7" name="Content Placeholder 6"/>
          <p:cNvPicPr>
            <a:picLocks noChangeAspect="1"/>
          </p:cNvPicPr>
          <p:nvPr>
            <p:ph sz="half" idx="1"/>
          </p:nvPr>
        </p:nvPicPr>
        <p:blipFill rotWithShape="1">
          <a:blip r:embed="rId1">
            <a:extLst>
              <a:ext uri="{28A0092B-C50C-407E-A947-70E740481C1C}">
                <a14:useLocalDpi xmlns:a14="http://schemas.microsoft.com/office/drawing/2010/main" val="0"/>
              </a:ext>
            </a:extLst>
          </a:blip>
          <a:srcRect t="15874" b="36599"/>
          <a:stretch>
            <a:fillRect/>
          </a:stretch>
        </p:blipFill>
        <p:spPr>
          <a:xfrm>
            <a:off x="838200" y="1974215"/>
            <a:ext cx="5059045" cy="3275330"/>
          </a:xfrm>
          <a:prstGeom prst="rect">
            <a:avLst/>
          </a:prstGeom>
        </p:spPr>
      </p:pic>
      <p:sp>
        <p:nvSpPr>
          <p:cNvPr id="5" name="Text Box 4"/>
          <p:cNvSpPr txBox="1"/>
          <p:nvPr/>
        </p:nvSpPr>
        <p:spPr>
          <a:xfrm>
            <a:off x="7165975" y="2827655"/>
            <a:ext cx="3194050" cy="1568450"/>
          </a:xfrm>
          <a:prstGeom prst="rect">
            <a:avLst/>
          </a:prstGeom>
          <a:noFill/>
        </p:spPr>
        <p:txBody>
          <a:bodyPr wrap="none" rtlCol="0">
            <a:spAutoFit/>
          </a:bodyPr>
          <a:p>
            <a:pPr marL="285750" indent="-285750" algn="l">
              <a:buFont typeface="Arial" panose="020B0604020202020204" pitchFamily="34" charset="0"/>
              <a:buChar char="•"/>
            </a:pPr>
            <a:r>
              <a:rPr lang="en-IN" sz="2400" dirty="0">
                <a:latin typeface="Times New Roman" panose="02020603050405020304" charset="0"/>
                <a:sym typeface="+mn-ea"/>
              </a:rPr>
              <a:t>Rated voltage : 12V</a:t>
            </a:r>
            <a:endParaRPr lang="en-IN" sz="2400" dirty="0">
              <a:latin typeface="Times New Roman" panose="02020603050405020304" charset="0"/>
            </a:endParaRPr>
          </a:p>
          <a:p>
            <a:pPr marL="285750" indent="-285750" algn="l">
              <a:buFont typeface="Arial" panose="020B0604020202020204" pitchFamily="34" charset="0"/>
              <a:buChar char="•"/>
            </a:pPr>
            <a:r>
              <a:rPr lang="en-IN" sz="2400" dirty="0">
                <a:latin typeface="Times New Roman" panose="02020603050405020304" charset="0"/>
                <a:sym typeface="+mn-ea"/>
              </a:rPr>
              <a:t>Rated Amp-hr : 1.3Ah</a:t>
            </a:r>
            <a:endParaRPr lang="en-IN" sz="2400" dirty="0">
              <a:latin typeface="Times New Roman" panose="02020603050405020304" charset="0"/>
            </a:endParaRPr>
          </a:p>
          <a:p>
            <a:pPr marL="285750" indent="-285750" algn="l">
              <a:buFont typeface="Arial" panose="020B0604020202020204" pitchFamily="34" charset="0"/>
              <a:buChar char="•"/>
            </a:pPr>
            <a:r>
              <a:rPr lang="en-IN" sz="2400" dirty="0">
                <a:latin typeface="Times New Roman" panose="02020603050405020304" charset="0"/>
                <a:sym typeface="+mn-ea"/>
              </a:rPr>
              <a:t>Type : Lead Acid</a:t>
            </a:r>
            <a:endParaRPr lang="en-IN" sz="2400" dirty="0">
              <a:latin typeface="Times New Roman" panose="02020603050405020304" charset="0"/>
            </a:endParaRPr>
          </a:p>
          <a:p>
            <a:endParaRPr lang="en-US" sz="24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IN" altLang="en-US">
                <a:latin typeface="Times New Roman" panose="02020603050405020304" charset="0"/>
                <a:cs typeface="Times New Roman" panose="02020603050405020304" charset="0"/>
                <a:sym typeface="+mn-ea"/>
              </a:rPr>
              <a:t>HARDWARE IMPLIMENTATION</a:t>
            </a:r>
            <a:endParaRPr lang="en-US"/>
          </a:p>
        </p:txBody>
      </p:sp>
      <p:pic>
        <p:nvPicPr>
          <p:cNvPr id="9" name="Content Placeholder 8"/>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7005955" y="1554480"/>
            <a:ext cx="4601210" cy="4254500"/>
          </a:xfrm>
        </p:spPr>
      </p:pic>
      <p:sp>
        <p:nvSpPr>
          <p:cNvPr id="6" name="Text Box 5"/>
          <p:cNvSpPr txBox="1"/>
          <p:nvPr/>
        </p:nvSpPr>
        <p:spPr>
          <a:xfrm>
            <a:off x="1530985" y="1691005"/>
            <a:ext cx="4787900" cy="583565"/>
          </a:xfrm>
          <a:prstGeom prst="rect">
            <a:avLst/>
          </a:prstGeom>
          <a:noFill/>
        </p:spPr>
        <p:txBody>
          <a:bodyPr wrap="none" rtlCol="0">
            <a:spAutoFit/>
          </a:bodyPr>
          <a:p>
            <a:pPr algn="l"/>
            <a:r>
              <a:rPr lang="en-IN" sz="3200" dirty="0">
                <a:latin typeface="Times New Roman" panose="02020603050405020304" charset="0"/>
                <a:cs typeface="Times New Roman" panose="02020603050405020304" charset="0"/>
                <a:sym typeface="+mn-ea"/>
              </a:rPr>
              <a:t>3)ARDUINO UNO CP2102</a:t>
            </a:r>
            <a:endParaRPr lang="en-US" sz="3200"/>
          </a:p>
        </p:txBody>
      </p:sp>
      <p:sp>
        <p:nvSpPr>
          <p:cNvPr id="7" name="Text Box 6"/>
          <p:cNvSpPr txBox="1"/>
          <p:nvPr/>
        </p:nvSpPr>
        <p:spPr>
          <a:xfrm>
            <a:off x="1080770" y="2416810"/>
            <a:ext cx="5688330" cy="4154170"/>
          </a:xfrm>
          <a:prstGeom prst="rect">
            <a:avLst/>
          </a:prstGeom>
          <a:noFill/>
        </p:spPr>
        <p:txBody>
          <a:bodyPr wrap="none" rtlCol="0">
            <a:spAutoFit/>
          </a:bodyPr>
          <a:p>
            <a:pPr algn="l"/>
            <a:r>
              <a:rPr lang="en-IN" sz="2400" dirty="0">
                <a:latin typeface="Times New Roman" panose="02020603050405020304" charset="0"/>
                <a:cs typeface="Times New Roman" panose="02020603050405020304" charset="0"/>
                <a:sym typeface="+mn-ea"/>
              </a:rPr>
              <a:t>Specifications</a:t>
            </a:r>
            <a:br>
              <a:rPr lang="en-IN" sz="2400" dirty="0">
                <a:latin typeface="Times New Roman" panose="02020603050405020304" charset="0"/>
                <a:cs typeface="Times New Roman" panose="02020603050405020304" charset="0"/>
                <a:sym typeface="+mn-ea"/>
              </a:rPr>
            </a:br>
            <a:r>
              <a:rPr lang="en-IN" sz="2400" dirty="0">
                <a:latin typeface="Times New Roman" panose="02020603050405020304" charset="0"/>
                <a:cs typeface="Times New Roman" panose="02020603050405020304" charset="0"/>
                <a:sym typeface="+mn-ea"/>
              </a:rPr>
              <a:t>• CPU Architecture : 8-bit RISC Architecture</a:t>
            </a:r>
            <a:br>
              <a:rPr lang="en-IN" sz="2400" dirty="0">
                <a:latin typeface="Times New Roman" panose="02020603050405020304" charset="0"/>
                <a:cs typeface="Times New Roman" panose="02020603050405020304" charset="0"/>
                <a:sym typeface="+mn-ea"/>
              </a:rPr>
            </a:br>
            <a:r>
              <a:rPr lang="en-IN" sz="2400" dirty="0">
                <a:latin typeface="Times New Roman" panose="02020603050405020304" charset="0"/>
                <a:cs typeface="Times New Roman" panose="02020603050405020304" charset="0"/>
                <a:sym typeface="+mn-ea"/>
              </a:rPr>
              <a:t>• Operating Voltage : 4.5-5.5V</a:t>
            </a:r>
            <a:br>
              <a:rPr lang="en-IN" sz="2400" dirty="0">
                <a:latin typeface="Times New Roman" panose="02020603050405020304" charset="0"/>
                <a:cs typeface="Times New Roman" panose="02020603050405020304" charset="0"/>
                <a:sym typeface="+mn-ea"/>
              </a:rPr>
            </a:br>
            <a:r>
              <a:rPr lang="en-IN" sz="2400" dirty="0">
                <a:latin typeface="Times New Roman" panose="02020603050405020304" charset="0"/>
                <a:cs typeface="Times New Roman" panose="02020603050405020304" charset="0"/>
                <a:sym typeface="+mn-ea"/>
              </a:rPr>
              <a:t>• CPU Frequency - 16MHz</a:t>
            </a:r>
            <a:br>
              <a:rPr lang="en-IN" sz="2400" dirty="0">
                <a:latin typeface="Times New Roman" panose="02020603050405020304" charset="0"/>
                <a:cs typeface="Times New Roman" panose="02020603050405020304" charset="0"/>
                <a:sym typeface="+mn-ea"/>
              </a:rPr>
            </a:br>
            <a:r>
              <a:rPr lang="en-IN" sz="2400" dirty="0">
                <a:latin typeface="Times New Roman" panose="02020603050405020304" charset="0"/>
                <a:cs typeface="Times New Roman" panose="02020603050405020304" charset="0"/>
                <a:sym typeface="+mn-ea"/>
              </a:rPr>
              <a:t>• ADC - 8 channel</a:t>
            </a:r>
            <a:br>
              <a:rPr lang="en-IN" sz="2400" dirty="0">
                <a:latin typeface="Times New Roman" panose="02020603050405020304" charset="0"/>
                <a:cs typeface="Times New Roman" panose="02020603050405020304" charset="0"/>
                <a:sym typeface="+mn-ea"/>
              </a:rPr>
            </a:br>
            <a:r>
              <a:rPr lang="en-IN" sz="2400" dirty="0">
                <a:latin typeface="Times New Roman" panose="02020603050405020304" charset="0"/>
                <a:cs typeface="Times New Roman" panose="02020603050405020304" charset="0"/>
                <a:sym typeface="+mn-ea"/>
              </a:rPr>
              <a:t>• EEPROM 512 bytes</a:t>
            </a:r>
            <a:br>
              <a:rPr lang="en-IN" sz="2400" dirty="0">
                <a:latin typeface="Times New Roman" panose="02020603050405020304" charset="0"/>
                <a:cs typeface="Times New Roman" panose="02020603050405020304" charset="0"/>
                <a:sym typeface="+mn-ea"/>
              </a:rPr>
            </a:br>
            <a:r>
              <a:rPr lang="en-IN" sz="2400" dirty="0">
                <a:latin typeface="Times New Roman" panose="02020603050405020304" charset="0"/>
                <a:cs typeface="Times New Roman" panose="02020603050405020304" charset="0"/>
                <a:sym typeface="+mn-ea"/>
              </a:rPr>
              <a:t>• SRAM 1Kb</a:t>
            </a:r>
            <a:br>
              <a:rPr lang="en-IN" sz="2400" dirty="0">
                <a:latin typeface="Times New Roman" panose="02020603050405020304" charset="0"/>
                <a:cs typeface="Times New Roman" panose="02020603050405020304" charset="0"/>
                <a:sym typeface="+mn-ea"/>
              </a:rPr>
            </a:br>
            <a:r>
              <a:rPr lang="en-IN" sz="2400" dirty="0">
                <a:latin typeface="Times New Roman" panose="02020603050405020304" charset="0"/>
                <a:cs typeface="Times New Roman" panose="02020603050405020304" charset="0"/>
                <a:sym typeface="+mn-ea"/>
              </a:rPr>
              <a:t>• It has low power CMOS 8-bit controller </a:t>
            </a:r>
            <a:endParaRPr lang="en-IN" sz="2400" dirty="0">
              <a:latin typeface="Times New Roman" panose="02020603050405020304" charset="0"/>
              <a:cs typeface="Times New Roman" panose="02020603050405020304" charset="0"/>
              <a:sym typeface="+mn-ea"/>
            </a:endParaRPr>
          </a:p>
          <a:p>
            <a:pPr algn="l"/>
            <a:r>
              <a:rPr lang="en-IN" sz="2400" dirty="0">
                <a:latin typeface="Times New Roman" panose="02020603050405020304" charset="0"/>
                <a:cs typeface="Times New Roman" panose="02020603050405020304" charset="0"/>
                <a:sym typeface="+mn-ea"/>
              </a:rPr>
              <a:t>   with AVR RISC</a:t>
            </a:r>
            <a:br>
              <a:rPr lang="en-IN" sz="2400" dirty="0">
                <a:latin typeface="Times New Roman" panose="02020603050405020304" charset="0"/>
                <a:cs typeface="Times New Roman" panose="02020603050405020304" charset="0"/>
                <a:sym typeface="+mn-ea"/>
              </a:rPr>
            </a:br>
            <a:endParaRPr lang="en-IN" sz="2400" dirty="0">
              <a:latin typeface="Times New Roman" panose="02020603050405020304" charset="0"/>
              <a:cs typeface="Times New Roman" panose="02020603050405020304" charset="0"/>
            </a:endParaRPr>
          </a:p>
          <a:p>
            <a:endParaRPr lang="en-US" sz="24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07340"/>
            <a:ext cx="10515600" cy="1325563"/>
          </a:xfrm>
        </p:spPr>
        <p:txBody>
          <a:bodyPr/>
          <a:p>
            <a:pPr algn="ctr"/>
            <a:r>
              <a:rPr lang="en-IN" altLang="en-US" sz="4000">
                <a:latin typeface="Times New Roman" panose="02020603050405020304" charset="0"/>
                <a:cs typeface="Times New Roman" panose="02020603050405020304" charset="0"/>
              </a:rPr>
              <a:t>HARDWARE IMPLIMENTATION</a:t>
            </a:r>
            <a:endParaRPr lang="en-IN" altLang="en-US" sz="4000">
              <a:latin typeface="Times New Roman" panose="02020603050405020304" charset="0"/>
              <a:cs typeface="Times New Roman" panose="02020603050405020304" charset="0"/>
            </a:endParaRPr>
          </a:p>
        </p:txBody>
      </p:sp>
      <p:pic>
        <p:nvPicPr>
          <p:cNvPr id="4" name="Content Placeholder 3" descr="WhatsApp Image 2023-05-19 at 16.37.57"/>
          <p:cNvPicPr>
            <a:picLocks noChangeAspect="1"/>
          </p:cNvPicPr>
          <p:nvPr>
            <p:ph idx="1"/>
          </p:nvPr>
        </p:nvPicPr>
        <p:blipFill>
          <a:blip r:embed="rId1"/>
          <a:stretch>
            <a:fillRect/>
          </a:stretch>
        </p:blipFill>
        <p:spPr>
          <a:xfrm>
            <a:off x="838200" y="1795145"/>
            <a:ext cx="3049270" cy="4351655"/>
          </a:xfrm>
          <a:prstGeom prst="rect">
            <a:avLst/>
          </a:prstGeom>
        </p:spPr>
      </p:pic>
      <p:sp>
        <p:nvSpPr>
          <p:cNvPr id="6" name="Text Box 5"/>
          <p:cNvSpPr txBox="1"/>
          <p:nvPr/>
        </p:nvSpPr>
        <p:spPr>
          <a:xfrm>
            <a:off x="6288405" y="1795145"/>
            <a:ext cx="2778125" cy="583565"/>
          </a:xfrm>
          <a:prstGeom prst="rect">
            <a:avLst/>
          </a:prstGeom>
          <a:noFill/>
        </p:spPr>
        <p:txBody>
          <a:bodyPr wrap="none" rtlCol="0">
            <a:spAutoFit/>
          </a:bodyPr>
          <a:p>
            <a:r>
              <a:rPr lang="en-IN" altLang="en-US" sz="3200">
                <a:latin typeface="Times New Roman" panose="02020603050405020304" charset="0"/>
                <a:cs typeface="Times New Roman" panose="02020603050405020304" charset="0"/>
              </a:rPr>
              <a:t>4) ATMEGA 16</a:t>
            </a:r>
            <a:endParaRPr lang="en-IN" altLang="en-US" sz="3200">
              <a:latin typeface="Times New Roman" panose="02020603050405020304" charset="0"/>
              <a:cs typeface="Times New Roman" panose="02020603050405020304" charset="0"/>
            </a:endParaRPr>
          </a:p>
        </p:txBody>
      </p:sp>
      <p:sp>
        <p:nvSpPr>
          <p:cNvPr id="7" name="Text Box 6"/>
          <p:cNvSpPr txBox="1"/>
          <p:nvPr/>
        </p:nvSpPr>
        <p:spPr>
          <a:xfrm>
            <a:off x="5336540" y="2540635"/>
            <a:ext cx="5956300" cy="2861310"/>
          </a:xfrm>
          <a:prstGeom prst="rect">
            <a:avLst/>
          </a:prstGeom>
          <a:noFill/>
        </p:spPr>
        <p:txBody>
          <a:bodyPr wrap="none" rtlCol="0">
            <a:spAutoFit/>
          </a:bodyPr>
          <a:p>
            <a:pPr algn="l"/>
            <a:r>
              <a:rPr lang="en-US" sz="2000">
                <a:latin typeface="Times New Roman" panose="02020603050405020304" charset="0"/>
                <a:cs typeface="Times New Roman" panose="02020603050405020304" charset="0"/>
              </a:rPr>
              <a:t>We used Atmega16 because of the following features:</a:t>
            </a:r>
            <a:endParaRPr lang="en-US" sz="2000">
              <a:latin typeface="Times New Roman" panose="02020603050405020304" charset="0"/>
              <a:cs typeface="Times New Roman" panose="02020603050405020304" charset="0"/>
            </a:endParaRPr>
          </a:p>
          <a:p>
            <a:pPr algn="l"/>
            <a:endParaRPr lang="en-US" sz="2000">
              <a:latin typeface="Times New Roman" panose="02020603050405020304" charset="0"/>
              <a:cs typeface="Times New Roman" panose="02020603050405020304" charset="0"/>
            </a:endParaRPr>
          </a:p>
          <a:p>
            <a:pPr algn="l"/>
            <a:r>
              <a:rPr lang="en-US" sz="2000">
                <a:latin typeface="Times New Roman" panose="02020603050405020304" charset="0"/>
                <a:cs typeface="Times New Roman" panose="02020603050405020304" charset="0"/>
              </a:rPr>
              <a:t>It has low power CMOS 8-bit controller with AVR RISC</a:t>
            </a:r>
            <a:endParaRPr lang="en-US" sz="2000">
              <a:latin typeface="Times New Roman" panose="02020603050405020304" charset="0"/>
              <a:cs typeface="Times New Roman" panose="02020603050405020304" charset="0"/>
            </a:endParaRPr>
          </a:p>
          <a:p>
            <a:pPr algn="l"/>
            <a:r>
              <a:rPr lang="en-US" sz="2000">
                <a:latin typeface="Times New Roman" panose="02020603050405020304" charset="0"/>
                <a:cs typeface="Times New Roman" panose="02020603050405020304" charset="0"/>
              </a:rPr>
              <a:t>Its throughput is up to 16MIPS per</a:t>
            </a:r>
            <a:endParaRPr lang="en-US" sz="2000">
              <a:latin typeface="Times New Roman" panose="02020603050405020304" charset="0"/>
              <a:cs typeface="Times New Roman" panose="02020603050405020304" charset="0"/>
            </a:endParaRPr>
          </a:p>
          <a:p>
            <a:pPr algn="l"/>
            <a:r>
              <a:rPr lang="en-US" sz="2000">
                <a:latin typeface="Times New Roman" panose="02020603050405020304" charset="0"/>
                <a:cs typeface="Times New Roman" panose="02020603050405020304" charset="0"/>
              </a:rPr>
              <a:t>512 bytes of EEPROM, 1k byte SRAM, JTAG</a:t>
            </a:r>
            <a:endParaRPr lang="en-US" sz="2000">
              <a:latin typeface="Times New Roman" panose="02020603050405020304" charset="0"/>
              <a:cs typeface="Times New Roman" panose="02020603050405020304" charset="0"/>
            </a:endParaRPr>
          </a:p>
          <a:p>
            <a:pPr algn="l"/>
            <a:r>
              <a:rPr lang="en-US" sz="2000">
                <a:latin typeface="Times New Roman" panose="02020603050405020304" charset="0"/>
                <a:cs typeface="Times New Roman" panose="02020603050405020304" charset="0"/>
              </a:rPr>
              <a:t>Serial programmable USART+I2C protocol</a:t>
            </a:r>
            <a:endParaRPr lang="en-US" sz="2000">
              <a:latin typeface="Times New Roman" panose="02020603050405020304" charset="0"/>
              <a:cs typeface="Times New Roman" panose="02020603050405020304" charset="0"/>
            </a:endParaRPr>
          </a:p>
          <a:p>
            <a:pPr algn="l"/>
            <a:r>
              <a:rPr lang="en-IN" altLang="en-US" sz="2000">
                <a:latin typeface="Times New Roman" panose="02020603050405020304" charset="0"/>
                <a:cs typeface="Times New Roman" panose="02020603050405020304" charset="0"/>
              </a:rPr>
              <a:t>CPU frequency - 16MHz</a:t>
            </a:r>
            <a:endParaRPr lang="en-IN" altLang="en-US" sz="2000">
              <a:latin typeface="Times New Roman" panose="02020603050405020304" charset="0"/>
              <a:cs typeface="Times New Roman" panose="02020603050405020304" charset="0"/>
            </a:endParaRPr>
          </a:p>
          <a:p>
            <a:pPr algn="l"/>
            <a:r>
              <a:rPr lang="en-IN" altLang="en-US" sz="2000">
                <a:latin typeface="Times New Roman" panose="02020603050405020304" charset="0"/>
                <a:cs typeface="Times New Roman" panose="02020603050405020304" charset="0"/>
              </a:rPr>
              <a:t>Operating Voltage - (4.5-5.5V)</a:t>
            </a:r>
            <a:endParaRPr lang="en-IN" altLang="en-US" sz="2000">
              <a:latin typeface="Times New Roman" panose="02020603050405020304" charset="0"/>
              <a:cs typeface="Times New Roman" panose="02020603050405020304" charset="0"/>
            </a:endParaRPr>
          </a:p>
          <a:p>
            <a:pPr algn="l"/>
            <a:r>
              <a:rPr lang="en-IN" altLang="en-US" sz="2000">
                <a:latin typeface="Times New Roman" panose="02020603050405020304" charset="0"/>
                <a:cs typeface="Times New Roman" panose="02020603050405020304" charset="0"/>
              </a:rPr>
              <a:t>ADC - 8 Channel</a:t>
            </a:r>
            <a:endParaRPr lang="en-IN" altLang="en-US" sz="20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latin typeface="Times New Roman" panose="02020603050405020304" charset="0"/>
                <a:cs typeface="Times New Roman" panose="02020603050405020304" charset="0"/>
                <a:sym typeface="+mn-ea"/>
              </a:rPr>
              <a:t>HARDWARE IMPLIMENTATION</a:t>
            </a:r>
            <a:endParaRPr lang="en-US"/>
          </a:p>
        </p:txBody>
      </p:sp>
      <p:pic>
        <p:nvPicPr>
          <p:cNvPr id="4" name="Content Placeholder 3" descr="WhatsApp Image 2023-05-19 at 16.37.57 (1)"/>
          <p:cNvPicPr>
            <a:picLocks noChangeAspect="1"/>
          </p:cNvPicPr>
          <p:nvPr>
            <p:ph idx="1"/>
          </p:nvPr>
        </p:nvPicPr>
        <p:blipFill>
          <a:blip r:embed="rId1"/>
          <a:srcRect l="7939" t="16562" r="6509" b="34963"/>
          <a:stretch>
            <a:fillRect/>
          </a:stretch>
        </p:blipFill>
        <p:spPr>
          <a:xfrm>
            <a:off x="960755" y="1691005"/>
            <a:ext cx="4114800" cy="4664710"/>
          </a:xfrm>
          <a:prstGeom prst="rect">
            <a:avLst/>
          </a:prstGeom>
        </p:spPr>
      </p:pic>
      <p:sp>
        <p:nvSpPr>
          <p:cNvPr id="5" name="Text Box 4"/>
          <p:cNvSpPr txBox="1"/>
          <p:nvPr/>
        </p:nvSpPr>
        <p:spPr>
          <a:xfrm>
            <a:off x="5955030" y="1691005"/>
            <a:ext cx="5723255" cy="460375"/>
          </a:xfrm>
          <a:prstGeom prst="rect">
            <a:avLst/>
          </a:prstGeom>
          <a:noFill/>
        </p:spPr>
        <p:txBody>
          <a:bodyPr wrap="none" rtlCol="0">
            <a:spAutoFit/>
          </a:bodyPr>
          <a:p>
            <a:r>
              <a:rPr lang="en-IN" altLang="en-US" sz="2400">
                <a:latin typeface="Times New Roman" panose="02020603050405020304" charset="0"/>
                <a:cs typeface="Times New Roman" panose="02020603050405020304" charset="0"/>
              </a:rPr>
              <a:t>5) THREE PHASE BLDC DRIVE CIRCUIT</a:t>
            </a:r>
            <a:endParaRPr lang="en-IN" altLang="en-US" sz="2400">
              <a:latin typeface="Times New Roman" panose="02020603050405020304" charset="0"/>
              <a:cs typeface="Times New Roman" panose="02020603050405020304" charset="0"/>
            </a:endParaRPr>
          </a:p>
        </p:txBody>
      </p:sp>
      <p:sp>
        <p:nvSpPr>
          <p:cNvPr id="6" name="Text Box 5"/>
          <p:cNvSpPr txBox="1"/>
          <p:nvPr/>
        </p:nvSpPr>
        <p:spPr>
          <a:xfrm>
            <a:off x="5955030" y="2414270"/>
            <a:ext cx="5398135" cy="3046095"/>
          </a:xfrm>
          <a:prstGeom prst="rect">
            <a:avLst/>
          </a:prstGeom>
          <a:noFill/>
        </p:spPr>
        <p:txBody>
          <a:bodyPr wrap="square" rtlCol="0">
            <a:spAutoFit/>
          </a:bodyPr>
          <a:p>
            <a:pPr marL="285750" indent="-285750" algn="l">
              <a:buFont typeface="Arial" panose="020B0604020202020204" pitchFamily="34" charset="0"/>
              <a:buChar char="•"/>
            </a:pPr>
            <a:r>
              <a:rPr lang="en-IN" altLang="en-US" sz="2000">
                <a:latin typeface="Times New Roman" panose="02020603050405020304" charset="0"/>
                <a:cs typeface="Times New Roman" panose="02020603050405020304" charset="0"/>
                <a:sym typeface="+mn-ea"/>
              </a:rPr>
              <a:t>Hall sensors are set inside the motor to determine the rotor position.</a:t>
            </a:r>
            <a:endParaRPr lang="en-IN" altLang="en-US" sz="2000">
              <a:latin typeface="Times New Roman" panose="02020603050405020304" charset="0"/>
              <a:cs typeface="Times New Roman" panose="02020603050405020304" charset="0"/>
            </a:endParaRPr>
          </a:p>
          <a:p>
            <a:pPr marL="285750" indent="-285750" algn="l">
              <a:buFont typeface="Arial" panose="020B0604020202020204" pitchFamily="34" charset="0"/>
              <a:buChar char="•"/>
            </a:pPr>
            <a:r>
              <a:rPr lang="en-IN" altLang="en-US" sz="2000">
                <a:latin typeface="Times New Roman" panose="02020603050405020304" charset="0"/>
                <a:cs typeface="Times New Roman" panose="02020603050405020304" charset="0"/>
                <a:sym typeface="+mn-ea"/>
              </a:rPr>
              <a:t>The control system senses the rotor position and the proper voltage pattern is  applied to the motor by BLDC drive circuit. </a:t>
            </a:r>
            <a:endParaRPr lang="en-IN" altLang="en-US" sz="2000">
              <a:latin typeface="Times New Roman" panose="02020603050405020304" charset="0"/>
              <a:cs typeface="Times New Roman" panose="02020603050405020304" charset="0"/>
              <a:sym typeface="+mn-ea"/>
            </a:endParaRPr>
          </a:p>
          <a:p>
            <a:pPr marL="285750" indent="-285750" algn="l">
              <a:buFont typeface="Arial" panose="020B0604020202020204" pitchFamily="34" charset="0"/>
              <a:buChar char="•"/>
            </a:pPr>
            <a:r>
              <a:rPr lang="en-US" sz="2000" dirty="0">
                <a:latin typeface="Times New Roman" panose="02020603050405020304" charset="0"/>
                <a:cs typeface="Times New Roman" panose="02020603050405020304" charset="0"/>
                <a:sym typeface="+mn-ea"/>
              </a:rPr>
              <a:t>The main components of the driver circuit are</a:t>
            </a:r>
            <a:r>
              <a:rPr lang="en-US" sz="2000" dirty="0">
                <a:sym typeface="+mn-ea"/>
              </a:rPr>
              <a:t>:</a:t>
            </a:r>
            <a:endParaRPr lang="en-US" sz="2000" dirty="0"/>
          </a:p>
          <a:p>
            <a:pPr marL="742950" lvl="1" indent="-285750" algn="l">
              <a:buFont typeface="Arial" panose="020B0604020202020204" pitchFamily="34" charset="0"/>
              <a:buChar char="•"/>
            </a:pPr>
            <a:r>
              <a:rPr lang="en-IN" altLang="en-US"/>
              <a:t>IR2110</a:t>
            </a:r>
            <a:endParaRPr lang="en-IN" altLang="en-US"/>
          </a:p>
          <a:p>
            <a:pPr marL="742950" lvl="1" indent="-285750" algn="l">
              <a:buFont typeface="Arial" panose="020B0604020202020204" pitchFamily="34" charset="0"/>
              <a:buChar char="•"/>
            </a:pPr>
            <a:r>
              <a:rPr lang="en-IN" altLang="en-US"/>
              <a:t>IRFB4110</a:t>
            </a:r>
            <a:endParaRPr lang="en-IN" altLang="en-US"/>
          </a:p>
          <a:p>
            <a:pPr marL="742950" lvl="1" indent="-285750" algn="l">
              <a:buFont typeface="Arial" panose="020B0604020202020204" pitchFamily="34" charset="0"/>
              <a:buChar char="•"/>
            </a:pPr>
            <a:r>
              <a:rPr lang="en-IN" altLang="en-US"/>
              <a:t>LM7812</a:t>
            </a:r>
            <a:endParaRPr lang="en-IN" altLang="en-US"/>
          </a:p>
          <a:p>
            <a:endParaRPr lang="en-US"/>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02565"/>
            <a:ext cx="10515600" cy="981075"/>
          </a:xfrm>
        </p:spPr>
        <p:txBody>
          <a:bodyPr>
            <a:normAutofit/>
          </a:bodyPr>
          <a:p>
            <a:pPr algn="ctr"/>
            <a:r>
              <a:rPr lang="en-IN" altLang="en-US">
                <a:latin typeface="Times New Roman" panose="02020603050405020304" charset="0"/>
                <a:cs typeface="Times New Roman" panose="02020603050405020304" charset="0"/>
                <a:sym typeface="+mn-ea"/>
              </a:rPr>
              <a:t>HARDWARE IMPLIMENTATION</a:t>
            </a:r>
            <a:endParaRPr lang="en-US"/>
          </a:p>
        </p:txBody>
      </p:sp>
      <p:sp>
        <p:nvSpPr>
          <p:cNvPr id="5" name="Text Box 4"/>
          <p:cNvSpPr txBox="1"/>
          <p:nvPr/>
        </p:nvSpPr>
        <p:spPr>
          <a:xfrm>
            <a:off x="3141980" y="1183640"/>
            <a:ext cx="7978140" cy="460375"/>
          </a:xfrm>
          <a:prstGeom prst="rect">
            <a:avLst/>
          </a:prstGeom>
          <a:noFill/>
        </p:spPr>
        <p:txBody>
          <a:bodyPr wrap="square" rtlCol="0">
            <a:spAutoFit/>
          </a:bodyPr>
          <a:p>
            <a:pPr algn="l"/>
            <a:r>
              <a:rPr lang="en-IN" altLang="en-US" sz="2400">
                <a:latin typeface="Times New Roman" panose="02020603050405020304" charset="0"/>
                <a:cs typeface="Times New Roman" panose="02020603050405020304" charset="0"/>
                <a:sym typeface="+mn-ea"/>
              </a:rPr>
              <a:t>6) THREE PHASE BLDC DRIVE CIRCUIT</a:t>
            </a:r>
            <a:endParaRPr lang="en-US" sz="2400"/>
          </a:p>
        </p:txBody>
      </p:sp>
      <p:sp>
        <p:nvSpPr>
          <p:cNvPr id="6" name="Text Box 5"/>
          <p:cNvSpPr txBox="1"/>
          <p:nvPr/>
        </p:nvSpPr>
        <p:spPr>
          <a:xfrm>
            <a:off x="401955" y="1644015"/>
            <a:ext cx="7957185" cy="5077460"/>
          </a:xfrm>
          <a:prstGeom prst="rect">
            <a:avLst/>
          </a:prstGeom>
          <a:noFill/>
        </p:spPr>
        <p:txBody>
          <a:bodyPr wrap="square" rtlCol="0">
            <a:spAutoFit/>
          </a:bodyPr>
          <a:p>
            <a:pPr algn="l"/>
            <a:r>
              <a:rPr lang="en-IN" dirty="0">
                <a:latin typeface="Times New Roman" panose="02020603050405020304" charset="0"/>
                <a:cs typeface="Times New Roman" panose="02020603050405020304" charset="0"/>
                <a:sym typeface="+mn-ea"/>
              </a:rPr>
              <a:t>1) Voltage Regulator (LM7812)</a:t>
            </a:r>
            <a:endParaRPr lang="en-IN" dirty="0">
              <a:latin typeface="Times New Roman" panose="02020603050405020304" charset="0"/>
              <a:cs typeface="Times New Roman" panose="02020603050405020304" charset="0"/>
              <a:sym typeface="+mn-ea"/>
            </a:endParaRPr>
          </a:p>
          <a:p>
            <a:pPr marL="742950" lvl="1" indent="-285750" algn="l">
              <a:buFont typeface="Arial" panose="020B0604020202020204" pitchFamily="34" charset="0"/>
              <a:buChar char="•"/>
            </a:pPr>
            <a:r>
              <a:rPr lang="en-US" dirty="0">
                <a:latin typeface="Times New Roman" panose="02020603050405020304" charset="0"/>
                <a:cs typeface="Times New Roman" panose="02020603050405020304" charset="0"/>
                <a:sym typeface="+mn-ea"/>
              </a:rPr>
              <a:t>Input voltage – 1</a:t>
            </a:r>
            <a:r>
              <a:rPr lang="en-IN" altLang="en-US" dirty="0">
                <a:latin typeface="Times New Roman" panose="02020603050405020304" charset="0"/>
                <a:cs typeface="Times New Roman" panose="02020603050405020304" charset="0"/>
                <a:sym typeface="+mn-ea"/>
              </a:rPr>
              <a:t>4</a:t>
            </a:r>
            <a:r>
              <a:rPr lang="en-US" dirty="0">
                <a:latin typeface="Times New Roman" panose="02020603050405020304" charset="0"/>
                <a:cs typeface="Times New Roman" panose="02020603050405020304" charset="0"/>
                <a:sym typeface="+mn-ea"/>
              </a:rPr>
              <a:t>V</a:t>
            </a:r>
            <a:r>
              <a:rPr lang="en-IN" altLang="en-US" dirty="0">
                <a:latin typeface="Times New Roman" panose="02020603050405020304" charset="0"/>
                <a:cs typeface="Times New Roman" panose="02020603050405020304" charset="0"/>
                <a:sym typeface="+mn-ea"/>
              </a:rPr>
              <a:t>-35V</a:t>
            </a:r>
            <a:endParaRPr lang="en-US" dirty="0">
              <a:latin typeface="Times New Roman" panose="02020603050405020304" charset="0"/>
              <a:cs typeface="Times New Roman" panose="02020603050405020304" charset="0"/>
              <a:sym typeface="+mn-ea"/>
            </a:endParaRPr>
          </a:p>
          <a:p>
            <a:pPr marL="742950" lvl="1" indent="-285750" algn="l">
              <a:buFont typeface="Arial" panose="020B0604020202020204" pitchFamily="34" charset="0"/>
              <a:buChar char="•"/>
            </a:pPr>
            <a:r>
              <a:rPr lang="en-US" dirty="0">
                <a:latin typeface="Times New Roman" panose="02020603050405020304" charset="0"/>
                <a:cs typeface="Times New Roman" panose="02020603050405020304" charset="0"/>
                <a:sym typeface="+mn-ea"/>
              </a:rPr>
              <a:t>Output voltage - </a:t>
            </a:r>
            <a:r>
              <a:rPr lang="en-IN" altLang="en-US" dirty="0">
                <a:latin typeface="Times New Roman" panose="02020603050405020304" charset="0"/>
                <a:cs typeface="Times New Roman" panose="02020603050405020304" charset="0"/>
                <a:sym typeface="+mn-ea"/>
              </a:rPr>
              <a:t>12</a:t>
            </a:r>
            <a:r>
              <a:rPr lang="en-US" dirty="0">
                <a:latin typeface="Times New Roman" panose="02020603050405020304" charset="0"/>
                <a:cs typeface="Times New Roman" panose="02020603050405020304" charset="0"/>
                <a:sym typeface="+mn-ea"/>
              </a:rPr>
              <a:t>V</a:t>
            </a:r>
            <a:endParaRPr lang="en-US" dirty="0">
              <a:latin typeface="Times New Roman" panose="02020603050405020304" charset="0"/>
              <a:cs typeface="Times New Roman" panose="02020603050405020304" charset="0"/>
              <a:sym typeface="+mn-ea"/>
            </a:endParaRPr>
          </a:p>
          <a:p>
            <a:pPr lvl="1" indent="0" algn="l">
              <a:buFont typeface="Arial" panose="020B0604020202020204" pitchFamily="34" charset="0"/>
              <a:buNone/>
            </a:pPr>
            <a:endParaRPr lang="en-US" dirty="0">
              <a:latin typeface="Times New Roman" panose="02020603050405020304" charset="0"/>
              <a:cs typeface="Times New Roman" panose="02020603050405020304" charset="0"/>
              <a:sym typeface="+mn-ea"/>
            </a:endParaRPr>
          </a:p>
          <a:p>
            <a:pPr indent="0" algn="l">
              <a:buFont typeface="Arial" panose="020B0604020202020204" pitchFamily="34" charset="0"/>
              <a:buNone/>
            </a:pPr>
            <a:r>
              <a:rPr lang="en-IN" dirty="0">
                <a:latin typeface="Times New Roman" panose="02020603050405020304" charset="0"/>
                <a:cs typeface="Times New Roman" panose="02020603050405020304" charset="0"/>
                <a:sym typeface="+mn-ea"/>
              </a:rPr>
              <a:t>4)MOSFET IRFB4110</a:t>
            </a:r>
            <a:endParaRPr lang="en-IN" dirty="0">
              <a:latin typeface="Times New Roman" panose="02020603050405020304" charset="0"/>
              <a:cs typeface="Times New Roman" panose="02020603050405020304" charset="0"/>
            </a:endParaRPr>
          </a:p>
          <a:p>
            <a:pPr marL="742950" lvl="1" indent="-285750" algn="l">
              <a:buFont typeface="Arial" panose="020B0604020202020204" pitchFamily="34" charset="0"/>
              <a:buChar char="•"/>
            </a:pPr>
            <a:r>
              <a:rPr lang="fr-FR" dirty="0">
                <a:latin typeface="Times New Roman" panose="02020603050405020304" charset="0"/>
                <a:cs typeface="Times New Roman" panose="02020603050405020304" charset="0"/>
                <a:sym typeface="+mn-ea"/>
              </a:rPr>
              <a:t> Drain-Source Voltage (Vds) - </a:t>
            </a:r>
            <a:r>
              <a:rPr lang="en-IN" altLang="fr-FR" dirty="0">
                <a:latin typeface="Times New Roman" panose="02020603050405020304" charset="0"/>
                <a:cs typeface="Times New Roman" panose="02020603050405020304" charset="0"/>
                <a:sym typeface="+mn-ea"/>
              </a:rPr>
              <a:t>10</a:t>
            </a:r>
            <a:r>
              <a:rPr lang="fr-FR" dirty="0">
                <a:latin typeface="Times New Roman" panose="02020603050405020304" charset="0"/>
                <a:cs typeface="Times New Roman" panose="02020603050405020304" charset="0"/>
                <a:sym typeface="+mn-ea"/>
              </a:rPr>
              <a:t>0V</a:t>
            </a:r>
            <a:endParaRPr lang="fr-FR" dirty="0">
              <a:latin typeface="Times New Roman" panose="02020603050405020304" charset="0"/>
              <a:cs typeface="Times New Roman" panose="02020603050405020304" charset="0"/>
            </a:endParaRPr>
          </a:p>
          <a:p>
            <a:pPr marL="742950" lvl="1" indent="-285750" algn="l">
              <a:buFont typeface="Arial" panose="020B0604020202020204" pitchFamily="34" charset="0"/>
              <a:buChar char="•"/>
            </a:pPr>
            <a:r>
              <a:rPr lang="fr-FR" dirty="0">
                <a:latin typeface="Times New Roman" panose="02020603050405020304" charset="0"/>
                <a:cs typeface="Times New Roman" panose="02020603050405020304" charset="0"/>
                <a:sym typeface="+mn-ea"/>
              </a:rPr>
              <a:t> </a:t>
            </a:r>
            <a:r>
              <a:rPr lang="fr-FR" dirty="0" err="1">
                <a:latin typeface="Times New Roman" panose="02020603050405020304" charset="0"/>
                <a:cs typeface="Times New Roman" panose="02020603050405020304" charset="0"/>
                <a:sym typeface="+mn-ea"/>
              </a:rPr>
              <a:t>Gate</a:t>
            </a:r>
            <a:r>
              <a:rPr lang="fr-FR" dirty="0">
                <a:latin typeface="Times New Roman" panose="02020603050405020304" charset="0"/>
                <a:cs typeface="Times New Roman" panose="02020603050405020304" charset="0"/>
                <a:sym typeface="+mn-ea"/>
              </a:rPr>
              <a:t>-Source Voltage (</a:t>
            </a:r>
            <a:r>
              <a:rPr lang="fr-FR" dirty="0" err="1">
                <a:latin typeface="Times New Roman" panose="02020603050405020304" charset="0"/>
                <a:cs typeface="Times New Roman" panose="02020603050405020304" charset="0"/>
                <a:sym typeface="+mn-ea"/>
              </a:rPr>
              <a:t>Vgs</a:t>
            </a:r>
            <a:r>
              <a:rPr lang="fr-FR" dirty="0">
                <a:latin typeface="Times New Roman" panose="02020603050405020304" charset="0"/>
                <a:cs typeface="Times New Roman" panose="02020603050405020304" charset="0"/>
                <a:sym typeface="+mn-ea"/>
              </a:rPr>
              <a:t>)- ±20V</a:t>
            </a:r>
            <a:endParaRPr lang="fr-FR" dirty="0">
              <a:latin typeface="Times New Roman" panose="02020603050405020304" charset="0"/>
              <a:cs typeface="Times New Roman" panose="02020603050405020304" charset="0"/>
            </a:endParaRPr>
          </a:p>
          <a:p>
            <a:pPr marL="742950" lvl="1" indent="-285750" algn="l">
              <a:buFont typeface="Arial" panose="020B0604020202020204" pitchFamily="34" charset="0"/>
              <a:buChar char="•"/>
            </a:pPr>
            <a:endParaRPr lang="fr-FR" dirty="0">
              <a:latin typeface="Times New Roman" panose="02020603050405020304" charset="0"/>
              <a:cs typeface="Times New Roman" panose="02020603050405020304" charset="0"/>
            </a:endParaRPr>
          </a:p>
          <a:p>
            <a:pPr indent="0" algn="l">
              <a:buFont typeface="Arial" panose="020B0604020202020204" pitchFamily="34" charset="0"/>
              <a:buNone/>
            </a:pPr>
            <a:r>
              <a:rPr lang="en-IN" altLang="en-US" dirty="0">
                <a:latin typeface="Times New Roman" panose="02020603050405020304" charset="0"/>
                <a:cs typeface="Times New Roman" panose="02020603050405020304" charset="0"/>
              </a:rPr>
              <a:t>5) IRF2110 Driver IC</a:t>
            </a:r>
            <a:endParaRPr lang="en-IN" altLang="en-US" dirty="0">
              <a:latin typeface="Times New Roman" panose="02020603050405020304" charset="0"/>
              <a:cs typeface="Times New Roman" panose="02020603050405020304" charset="0"/>
            </a:endParaRPr>
          </a:p>
          <a:p>
            <a:pPr marL="742950" lvl="1" indent="-285750" algn="l">
              <a:buFont typeface="Arial" panose="020B0604020202020204" pitchFamily="34" charset="0"/>
              <a:buChar char="•"/>
            </a:pPr>
            <a:r>
              <a:rPr lang="en-IN" altLang="en-US" dirty="0">
                <a:latin typeface="Times New Roman" panose="02020603050405020304" charset="0"/>
                <a:cs typeface="Times New Roman" panose="02020603050405020304" charset="0"/>
              </a:rPr>
              <a:t> IR2110 is a high voltage, high speed power MOSFET and IGBT driver with independent high and low side referenced output channels.</a:t>
            </a:r>
            <a:endParaRPr lang="en-IN" altLang="en-US" dirty="0">
              <a:latin typeface="Times New Roman" panose="02020603050405020304" charset="0"/>
              <a:cs typeface="Times New Roman" panose="02020603050405020304" charset="0"/>
            </a:endParaRPr>
          </a:p>
          <a:p>
            <a:pPr indent="0" algn="l">
              <a:buFont typeface="Arial" panose="020B0604020202020204" pitchFamily="34" charset="0"/>
              <a:buNone/>
            </a:pPr>
            <a:endParaRPr lang="en-IN" altLang="en-US" dirty="0">
              <a:latin typeface="Times New Roman" panose="02020603050405020304" charset="0"/>
              <a:cs typeface="Times New Roman" panose="02020603050405020304" charset="0"/>
            </a:endParaRPr>
          </a:p>
          <a:p>
            <a:pPr indent="0" algn="l">
              <a:buFont typeface="Arial" panose="020B0604020202020204" pitchFamily="34" charset="0"/>
              <a:buNone/>
            </a:pPr>
            <a:r>
              <a:rPr lang="en-US" dirty="0">
                <a:latin typeface="Times New Roman" panose="02020603050405020304" charset="0"/>
                <a:cs typeface="Times New Roman" panose="02020603050405020304" charset="0"/>
                <a:sym typeface="+mn-ea"/>
              </a:rPr>
              <a:t>2)Capacitor</a:t>
            </a:r>
            <a:endParaRPr lang="en-US" dirty="0">
              <a:latin typeface="Times New Roman" panose="02020603050405020304" charset="0"/>
              <a:cs typeface="Times New Roman" panose="02020603050405020304" charset="0"/>
            </a:endParaRPr>
          </a:p>
          <a:p>
            <a:pPr marL="742950" lvl="1" indent="-285750" algn="l">
              <a:buFont typeface="Arial" panose="020B0604020202020204" pitchFamily="34" charset="0"/>
              <a:buChar char="•"/>
            </a:pPr>
            <a:r>
              <a:rPr lang="en-US" dirty="0">
                <a:latin typeface="Times New Roman" panose="02020603050405020304" charset="0"/>
                <a:cs typeface="Times New Roman" panose="02020603050405020304" charset="0"/>
                <a:sym typeface="+mn-ea"/>
              </a:rPr>
              <a:t> 1000 μF,35V</a:t>
            </a:r>
            <a:endParaRPr lang="en-US" dirty="0">
              <a:latin typeface="Times New Roman" panose="02020603050405020304" charset="0"/>
              <a:cs typeface="Times New Roman" panose="02020603050405020304" charset="0"/>
              <a:sym typeface="+mn-ea"/>
            </a:endParaRPr>
          </a:p>
          <a:p>
            <a:pPr indent="0" algn="l">
              <a:buFont typeface="Arial" panose="020B0604020202020204" pitchFamily="34" charset="0"/>
              <a:buNone/>
            </a:pPr>
            <a:endParaRPr lang="en-US" dirty="0">
              <a:latin typeface="Times New Roman" panose="02020603050405020304" charset="0"/>
              <a:cs typeface="Times New Roman" panose="02020603050405020304" charset="0"/>
            </a:endParaRPr>
          </a:p>
          <a:p>
            <a:pPr indent="0" algn="l">
              <a:buFont typeface="Arial" panose="020B0604020202020204" pitchFamily="34" charset="0"/>
              <a:buNone/>
            </a:pPr>
            <a:r>
              <a:rPr lang="en-US" dirty="0">
                <a:latin typeface="Times New Roman" panose="02020603050405020304" charset="0"/>
                <a:cs typeface="Times New Roman" panose="02020603050405020304" charset="0"/>
                <a:sym typeface="+mn-ea"/>
              </a:rPr>
              <a:t>3)Resistor</a:t>
            </a:r>
            <a:endParaRPr lang="en-US" dirty="0">
              <a:latin typeface="Times New Roman" panose="02020603050405020304" charset="0"/>
              <a:cs typeface="Times New Roman" panose="02020603050405020304" charset="0"/>
            </a:endParaRPr>
          </a:p>
          <a:p>
            <a:pPr marL="742950" lvl="1" indent="-285750" algn="l">
              <a:buFont typeface="Arial" panose="020B0604020202020204" pitchFamily="34" charset="0"/>
              <a:buChar char="•"/>
            </a:pPr>
            <a:r>
              <a:rPr lang="en-US" dirty="0">
                <a:latin typeface="Times New Roman" panose="02020603050405020304" charset="0"/>
                <a:cs typeface="Times New Roman" panose="02020603050405020304" charset="0"/>
                <a:sym typeface="+mn-ea"/>
              </a:rPr>
              <a:t>22Ω</a:t>
            </a:r>
            <a:endParaRPr lang="en-US" dirty="0">
              <a:latin typeface="Times New Roman" panose="02020603050405020304" charset="0"/>
              <a:cs typeface="Times New Roman" panose="02020603050405020304" charset="0"/>
            </a:endParaRPr>
          </a:p>
          <a:p>
            <a:pPr marL="742950" lvl="1" indent="-285750" algn="l">
              <a:buFont typeface="Arial" panose="020B0604020202020204" pitchFamily="34" charset="0"/>
              <a:buChar char="•"/>
            </a:pPr>
            <a:r>
              <a:rPr lang="en-US" dirty="0">
                <a:latin typeface="Times New Roman" panose="02020603050405020304" charset="0"/>
                <a:cs typeface="Times New Roman" panose="02020603050405020304" charset="0"/>
                <a:sym typeface="+mn-ea"/>
              </a:rPr>
              <a:t> 11Ω</a:t>
            </a:r>
            <a:endParaRPr lang="en-US">
              <a:latin typeface="Times New Roman" panose="02020603050405020304" charset="0"/>
              <a:cs typeface="Times New Roman" panose="02020603050405020304" charset="0"/>
            </a:endParaRPr>
          </a:p>
        </p:txBody>
      </p:sp>
      <p:pic>
        <p:nvPicPr>
          <p:cNvPr id="8" name="Content Placeholder 7" descr="7812-ic-prayogindia"/>
          <p:cNvPicPr>
            <a:picLocks noChangeAspect="1"/>
          </p:cNvPicPr>
          <p:nvPr>
            <p:ph sz="half" idx="1"/>
          </p:nvPr>
        </p:nvPicPr>
        <p:blipFill>
          <a:blip r:embed="rId1"/>
          <a:stretch>
            <a:fillRect/>
          </a:stretch>
        </p:blipFill>
        <p:spPr>
          <a:xfrm>
            <a:off x="9779635" y="2151380"/>
            <a:ext cx="1652270" cy="1652270"/>
          </a:xfrm>
          <a:prstGeom prst="rect">
            <a:avLst/>
          </a:prstGeom>
        </p:spPr>
      </p:pic>
      <p:sp>
        <p:nvSpPr>
          <p:cNvPr id="9" name="Text Box 8"/>
          <p:cNvSpPr txBox="1"/>
          <p:nvPr/>
        </p:nvSpPr>
        <p:spPr>
          <a:xfrm>
            <a:off x="10314940" y="3835400"/>
            <a:ext cx="805180" cy="306705"/>
          </a:xfrm>
          <a:prstGeom prst="rect">
            <a:avLst/>
          </a:prstGeom>
          <a:noFill/>
        </p:spPr>
        <p:txBody>
          <a:bodyPr wrap="none" rtlCol="0">
            <a:spAutoFit/>
          </a:bodyPr>
          <a:p>
            <a:r>
              <a:rPr lang="en-IN" altLang="en-US" sz="1400">
                <a:latin typeface="Times New Roman" panose="02020603050405020304" charset="0"/>
                <a:cs typeface="Times New Roman" panose="02020603050405020304" charset="0"/>
              </a:rPr>
              <a:t>LM7812</a:t>
            </a:r>
            <a:endParaRPr lang="en-IN" altLang="en-US" sz="1400">
              <a:latin typeface="Times New Roman" panose="02020603050405020304" charset="0"/>
              <a:cs typeface="Times New Roman" panose="02020603050405020304" charset="0"/>
            </a:endParaRPr>
          </a:p>
        </p:txBody>
      </p:sp>
      <p:pic>
        <p:nvPicPr>
          <p:cNvPr id="10" name="Content Placeholder 9" descr="th"/>
          <p:cNvPicPr>
            <a:picLocks noChangeAspect="1"/>
          </p:cNvPicPr>
          <p:nvPr>
            <p:ph sz="half" idx="2"/>
          </p:nvPr>
        </p:nvPicPr>
        <p:blipFill>
          <a:blip r:embed="rId2"/>
          <a:stretch>
            <a:fillRect/>
          </a:stretch>
        </p:blipFill>
        <p:spPr>
          <a:xfrm>
            <a:off x="7418705" y="2151380"/>
            <a:ext cx="1379855" cy="1379855"/>
          </a:xfrm>
          <a:prstGeom prst="rect">
            <a:avLst/>
          </a:prstGeom>
        </p:spPr>
      </p:pic>
      <p:pic>
        <p:nvPicPr>
          <p:cNvPr id="11" name="Picture 10" descr="th (1)"/>
          <p:cNvPicPr>
            <a:picLocks noChangeAspect="1"/>
          </p:cNvPicPr>
          <p:nvPr/>
        </p:nvPicPr>
        <p:blipFill>
          <a:blip r:embed="rId3"/>
          <a:stretch>
            <a:fillRect/>
          </a:stretch>
        </p:blipFill>
        <p:spPr>
          <a:xfrm>
            <a:off x="8798560" y="4463415"/>
            <a:ext cx="1714500" cy="1714500"/>
          </a:xfrm>
          <a:prstGeom prst="rect">
            <a:avLst/>
          </a:prstGeom>
        </p:spPr>
      </p:pic>
      <p:sp>
        <p:nvSpPr>
          <p:cNvPr id="12" name="Text Box 11"/>
          <p:cNvSpPr txBox="1"/>
          <p:nvPr/>
        </p:nvSpPr>
        <p:spPr>
          <a:xfrm>
            <a:off x="7530465" y="3531235"/>
            <a:ext cx="1911985" cy="306705"/>
          </a:xfrm>
          <a:prstGeom prst="rect">
            <a:avLst/>
          </a:prstGeom>
          <a:noFill/>
        </p:spPr>
        <p:txBody>
          <a:bodyPr wrap="square" rtlCol="0">
            <a:spAutoFit/>
          </a:bodyPr>
          <a:p>
            <a:r>
              <a:rPr lang="en-IN" altLang="en-US" sz="1400">
                <a:latin typeface="Times New Roman" panose="02020603050405020304" charset="0"/>
                <a:cs typeface="Times New Roman" panose="02020603050405020304" charset="0"/>
              </a:rPr>
              <a:t>IRFB4110</a:t>
            </a:r>
            <a:endParaRPr lang="en-IN" altLang="en-US" sz="1400">
              <a:latin typeface="Times New Roman" panose="02020603050405020304" charset="0"/>
              <a:cs typeface="Times New Roman" panose="02020603050405020304" charset="0"/>
            </a:endParaRPr>
          </a:p>
        </p:txBody>
      </p:sp>
      <p:sp>
        <p:nvSpPr>
          <p:cNvPr id="13" name="Text Box 12"/>
          <p:cNvSpPr txBox="1"/>
          <p:nvPr/>
        </p:nvSpPr>
        <p:spPr>
          <a:xfrm>
            <a:off x="9442450" y="6177915"/>
            <a:ext cx="808355" cy="306705"/>
          </a:xfrm>
          <a:prstGeom prst="rect">
            <a:avLst/>
          </a:prstGeom>
          <a:noFill/>
        </p:spPr>
        <p:txBody>
          <a:bodyPr wrap="none" rtlCol="0">
            <a:spAutoFit/>
          </a:bodyPr>
          <a:p>
            <a:r>
              <a:rPr lang="en-IN" altLang="en-US" sz="1400">
                <a:latin typeface="Times New Roman" panose="02020603050405020304" charset="0"/>
                <a:cs typeface="Times New Roman" panose="02020603050405020304" charset="0"/>
              </a:rPr>
              <a:t>IRF2110</a:t>
            </a:r>
            <a:endParaRPr lang="en-IN" altLang="en-US" sz="14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latin typeface="Times New Roman" panose="02020603050405020304" charset="0"/>
                <a:cs typeface="Times New Roman" panose="02020603050405020304" charset="0"/>
                <a:sym typeface="+mn-ea"/>
              </a:rPr>
              <a:t>HARDWARE IMPLIMENTATION</a:t>
            </a:r>
            <a:endParaRPr lang="en-US"/>
          </a:p>
        </p:txBody>
      </p:sp>
      <p:sp>
        <p:nvSpPr>
          <p:cNvPr id="5" name="Text Box 4"/>
          <p:cNvSpPr txBox="1"/>
          <p:nvPr/>
        </p:nvSpPr>
        <p:spPr>
          <a:xfrm>
            <a:off x="1333500" y="1400175"/>
            <a:ext cx="8709025" cy="521970"/>
          </a:xfrm>
          <a:prstGeom prst="rect">
            <a:avLst/>
          </a:prstGeom>
          <a:noFill/>
        </p:spPr>
        <p:txBody>
          <a:bodyPr wrap="none" rtlCol="0">
            <a:spAutoFit/>
          </a:bodyPr>
          <a:p>
            <a:pPr algn="ctr"/>
            <a:r>
              <a:rPr lang="en-IN" altLang="en-US" sz="2800">
                <a:latin typeface="Times New Roman" panose="02020603050405020304" charset="0"/>
                <a:cs typeface="Times New Roman" panose="02020603050405020304" charset="0"/>
              </a:rPr>
              <a:t>7) DUAL INPUT NON ISOLATED DC-DC CONVERTER</a:t>
            </a:r>
            <a:endParaRPr lang="en-IN" altLang="en-US" sz="2800">
              <a:latin typeface="Times New Roman" panose="02020603050405020304" charset="0"/>
              <a:cs typeface="Times New Roman" panose="02020603050405020304" charset="0"/>
            </a:endParaRPr>
          </a:p>
        </p:txBody>
      </p:sp>
      <p:sp>
        <p:nvSpPr>
          <p:cNvPr id="9" name="Text Box 8"/>
          <p:cNvSpPr txBox="1"/>
          <p:nvPr/>
        </p:nvSpPr>
        <p:spPr>
          <a:xfrm>
            <a:off x="1003300" y="2058035"/>
            <a:ext cx="6732270" cy="3969385"/>
          </a:xfrm>
          <a:prstGeom prst="rect">
            <a:avLst/>
          </a:prstGeom>
          <a:noFill/>
        </p:spPr>
        <p:txBody>
          <a:bodyPr wrap="square" rtlCol="0">
            <a:spAutoFit/>
          </a:bodyPr>
          <a:p>
            <a:pPr algn="l"/>
            <a:r>
              <a:rPr lang="en-US" dirty="0">
                <a:latin typeface="Times New Roman" panose="02020603050405020304" charset="0"/>
                <a:cs typeface="Times New Roman" panose="02020603050405020304" charset="0"/>
                <a:sym typeface="+mn-ea"/>
              </a:rPr>
              <a:t>1) MOSFET (IRFP250N) Metal Oxide Semiconductor Field Effect Transistor</a:t>
            </a:r>
            <a:endParaRPr lang="en-US" dirty="0">
              <a:latin typeface="Times New Roman" panose="02020603050405020304" charset="0"/>
              <a:cs typeface="Times New Roman" panose="02020603050405020304" charset="0"/>
            </a:endParaRPr>
          </a:p>
          <a:p>
            <a:pPr algn="l"/>
            <a:r>
              <a:rPr lang="en-IN" altLang="fr-FR" dirty="0">
                <a:latin typeface="Times New Roman" panose="02020603050405020304" charset="0"/>
                <a:cs typeface="Times New Roman" panose="02020603050405020304" charset="0"/>
                <a:sym typeface="+mn-ea"/>
              </a:rPr>
              <a:t>	</a:t>
            </a:r>
            <a:r>
              <a:rPr lang="fr-FR" dirty="0">
                <a:latin typeface="Times New Roman" panose="02020603050405020304" charset="0"/>
                <a:cs typeface="Times New Roman" panose="02020603050405020304" charset="0"/>
                <a:sym typeface="+mn-ea"/>
              </a:rPr>
              <a:t>• Drain-Source Voltage (Vds) - 20V</a:t>
            </a:r>
            <a:endParaRPr lang="fr-FR" dirty="0">
              <a:latin typeface="Times New Roman" panose="02020603050405020304" charset="0"/>
              <a:cs typeface="Times New Roman" panose="02020603050405020304" charset="0"/>
            </a:endParaRPr>
          </a:p>
          <a:p>
            <a:pPr algn="l"/>
            <a:r>
              <a:rPr lang="en-IN" altLang="fr-FR" dirty="0">
                <a:latin typeface="Times New Roman" panose="02020603050405020304" charset="0"/>
                <a:cs typeface="Times New Roman" panose="02020603050405020304" charset="0"/>
                <a:sym typeface="+mn-ea"/>
              </a:rPr>
              <a:t>	</a:t>
            </a:r>
            <a:r>
              <a:rPr lang="fr-FR" dirty="0">
                <a:latin typeface="Times New Roman" panose="02020603050405020304" charset="0"/>
                <a:cs typeface="Times New Roman" panose="02020603050405020304" charset="0"/>
                <a:sym typeface="+mn-ea"/>
              </a:rPr>
              <a:t>• </a:t>
            </a:r>
            <a:r>
              <a:rPr lang="fr-FR" dirty="0" err="1">
                <a:latin typeface="Times New Roman" panose="02020603050405020304" charset="0"/>
                <a:cs typeface="Times New Roman" panose="02020603050405020304" charset="0"/>
                <a:sym typeface="+mn-ea"/>
              </a:rPr>
              <a:t>Gate</a:t>
            </a:r>
            <a:r>
              <a:rPr lang="fr-FR" dirty="0">
                <a:latin typeface="Times New Roman" panose="02020603050405020304" charset="0"/>
                <a:cs typeface="Times New Roman" panose="02020603050405020304" charset="0"/>
                <a:sym typeface="+mn-ea"/>
              </a:rPr>
              <a:t>-Source Voltage (</a:t>
            </a:r>
            <a:r>
              <a:rPr lang="fr-FR" dirty="0" err="1">
                <a:latin typeface="Times New Roman" panose="02020603050405020304" charset="0"/>
                <a:cs typeface="Times New Roman" panose="02020603050405020304" charset="0"/>
                <a:sym typeface="+mn-ea"/>
              </a:rPr>
              <a:t>Vgs</a:t>
            </a:r>
            <a:r>
              <a:rPr lang="fr-FR" dirty="0">
                <a:latin typeface="Times New Roman" panose="02020603050405020304" charset="0"/>
                <a:cs typeface="Times New Roman" panose="02020603050405020304" charset="0"/>
                <a:sym typeface="+mn-ea"/>
              </a:rPr>
              <a:t>)- ±20V</a:t>
            </a:r>
            <a:endParaRPr lang="en-US" dirty="0">
              <a:latin typeface="Times New Roman" panose="02020603050405020304" charset="0"/>
              <a:cs typeface="Times New Roman" panose="02020603050405020304" charset="0"/>
            </a:endParaRPr>
          </a:p>
          <a:p>
            <a:pPr algn="l"/>
            <a:r>
              <a:rPr lang="en-IN" altLang="en-US" dirty="0">
                <a:latin typeface="Times New Roman" panose="02020603050405020304" charset="0"/>
                <a:cs typeface="Times New Roman" panose="02020603050405020304" charset="0"/>
                <a:sym typeface="+mn-ea"/>
              </a:rPr>
              <a:t>2</a:t>
            </a:r>
            <a:r>
              <a:rPr lang="en-US" dirty="0">
                <a:latin typeface="Times New Roman" panose="02020603050405020304" charset="0"/>
                <a:cs typeface="Times New Roman" panose="02020603050405020304" charset="0"/>
                <a:sym typeface="+mn-ea"/>
              </a:rPr>
              <a:t>) TLP 250 Driver IC</a:t>
            </a:r>
            <a:endParaRPr lang="en-US" dirty="0">
              <a:latin typeface="Times New Roman" panose="02020603050405020304" charset="0"/>
              <a:cs typeface="Times New Roman" panose="02020603050405020304" charset="0"/>
              <a:sym typeface="+mn-ea"/>
            </a:endParaRPr>
          </a:p>
          <a:p>
            <a:pPr indent="0" algn="l">
              <a:buFont typeface="Arial" panose="020B0604020202020204" pitchFamily="34" charset="0"/>
              <a:buNone/>
            </a:pPr>
            <a:r>
              <a:rPr lang="en-IN" altLang="en-US" dirty="0">
                <a:latin typeface="Times New Roman" panose="02020603050405020304" charset="0"/>
                <a:cs typeface="Times New Roman" panose="02020603050405020304" charset="0"/>
                <a:sym typeface="+mn-ea"/>
              </a:rPr>
              <a:t>	</a:t>
            </a:r>
            <a:r>
              <a:rPr lang="en-US" dirty="0">
                <a:latin typeface="Times New Roman" panose="02020603050405020304" charset="0"/>
                <a:cs typeface="Times New Roman" panose="02020603050405020304" charset="0"/>
                <a:sym typeface="+mn-ea"/>
              </a:rPr>
              <a:t>• Supply Voltage </a:t>
            </a:r>
            <a:r>
              <a:rPr lang="en-US" dirty="0" err="1">
                <a:latin typeface="Times New Roman" panose="02020603050405020304" charset="0"/>
                <a:cs typeface="Times New Roman" panose="02020603050405020304" charset="0"/>
                <a:sym typeface="+mn-ea"/>
              </a:rPr>
              <a:t>Vcc</a:t>
            </a:r>
            <a:r>
              <a:rPr lang="en-US" dirty="0">
                <a:latin typeface="Times New Roman" panose="02020603050405020304" charset="0"/>
                <a:cs typeface="Times New Roman" panose="02020603050405020304" charset="0"/>
                <a:sym typeface="+mn-ea"/>
              </a:rPr>
              <a:t> - 15V-30V</a:t>
            </a:r>
            <a:endParaRPr lang="en-US" dirty="0">
              <a:latin typeface="Times New Roman" panose="02020603050405020304" charset="0"/>
              <a:cs typeface="Times New Roman" panose="02020603050405020304" charset="0"/>
            </a:endParaRPr>
          </a:p>
          <a:p>
            <a:pPr indent="0" algn="l">
              <a:buFont typeface="Arial" panose="020B0604020202020204" pitchFamily="34" charset="0"/>
              <a:buNone/>
            </a:pPr>
            <a:r>
              <a:rPr lang="en-IN" altLang="en-US" dirty="0">
                <a:latin typeface="Times New Roman" panose="02020603050405020304" charset="0"/>
                <a:cs typeface="Times New Roman" panose="02020603050405020304" charset="0"/>
                <a:sym typeface="+mn-ea"/>
              </a:rPr>
              <a:t>	</a:t>
            </a:r>
            <a:r>
              <a:rPr lang="en-US" dirty="0">
                <a:latin typeface="Times New Roman" panose="02020603050405020304" charset="0"/>
                <a:cs typeface="Times New Roman" panose="02020603050405020304" charset="0"/>
                <a:sym typeface="+mn-ea"/>
              </a:rPr>
              <a:t>• Input Current If ON- 7-10mA</a:t>
            </a:r>
            <a:endParaRPr lang="en-US" dirty="0">
              <a:latin typeface="Times New Roman" panose="02020603050405020304" charset="0"/>
              <a:cs typeface="Times New Roman" panose="02020603050405020304" charset="0"/>
            </a:endParaRPr>
          </a:p>
          <a:p>
            <a:pPr indent="0" algn="l">
              <a:buFont typeface="Arial" panose="020B0604020202020204" pitchFamily="34" charset="0"/>
              <a:buNone/>
            </a:pPr>
            <a:r>
              <a:rPr lang="en-IN" altLang="en-US" dirty="0">
                <a:latin typeface="Times New Roman" panose="02020603050405020304" charset="0"/>
                <a:cs typeface="Times New Roman" panose="02020603050405020304" charset="0"/>
                <a:sym typeface="+mn-ea"/>
              </a:rPr>
              <a:t>	</a:t>
            </a:r>
            <a:r>
              <a:rPr lang="en-US" dirty="0">
                <a:latin typeface="Times New Roman" panose="02020603050405020304" charset="0"/>
                <a:cs typeface="Times New Roman" panose="02020603050405020304" charset="0"/>
                <a:sym typeface="+mn-ea"/>
              </a:rPr>
              <a:t>• Input Voltage </a:t>
            </a:r>
            <a:r>
              <a:rPr lang="en-US" dirty="0" err="1">
                <a:latin typeface="Times New Roman" panose="02020603050405020304" charset="0"/>
                <a:cs typeface="Times New Roman" panose="02020603050405020304" charset="0"/>
                <a:sym typeface="+mn-ea"/>
              </a:rPr>
              <a:t>Vf</a:t>
            </a:r>
            <a:r>
              <a:rPr lang="en-US" dirty="0">
                <a:latin typeface="Times New Roman" panose="02020603050405020304" charset="0"/>
                <a:cs typeface="Times New Roman" panose="02020603050405020304" charset="0"/>
                <a:sym typeface="+mn-ea"/>
              </a:rPr>
              <a:t> off - 0-0.8V   </a:t>
            </a:r>
            <a:endParaRPr lang="en-US" dirty="0">
              <a:latin typeface="Times New Roman" panose="02020603050405020304" charset="0"/>
              <a:cs typeface="Times New Roman" panose="02020603050405020304" charset="0"/>
              <a:sym typeface="+mn-ea"/>
            </a:endParaRPr>
          </a:p>
          <a:p>
            <a:pPr indent="0" algn="l">
              <a:buFont typeface="Arial" panose="020B0604020202020204" pitchFamily="34" charset="0"/>
              <a:buNone/>
            </a:pPr>
            <a:r>
              <a:rPr lang="en-IN" dirty="0">
                <a:latin typeface="Times New Roman" panose="02020603050405020304" charset="0"/>
                <a:cs typeface="Times New Roman" panose="02020603050405020304" charset="0"/>
                <a:sym typeface="+mn-ea"/>
              </a:rPr>
              <a:t>3) Voltage Regulator (LM7815)</a:t>
            </a:r>
            <a:endParaRPr lang="en-IN" dirty="0">
              <a:latin typeface="Times New Roman" panose="02020603050405020304" charset="0"/>
              <a:cs typeface="Times New Roman" panose="02020603050405020304" charset="0"/>
              <a:sym typeface="+mn-ea"/>
            </a:endParaRPr>
          </a:p>
          <a:p>
            <a:pPr indent="0" algn="l">
              <a:buFont typeface="Arial" panose="020B0604020202020204" pitchFamily="34" charset="0"/>
              <a:buNone/>
            </a:pPr>
            <a:r>
              <a:rPr lang="en-IN" dirty="0">
                <a:latin typeface="Times New Roman" panose="02020603050405020304" charset="0"/>
                <a:cs typeface="Times New Roman" panose="02020603050405020304" charset="0"/>
                <a:sym typeface="+mn-ea"/>
              </a:rPr>
              <a:t>4) Inductor</a:t>
            </a:r>
            <a:endParaRPr lang="en-IN" dirty="0">
              <a:latin typeface="Times New Roman" panose="02020603050405020304" charset="0"/>
              <a:cs typeface="Times New Roman" panose="02020603050405020304" charset="0"/>
            </a:endParaRPr>
          </a:p>
          <a:p>
            <a:pPr indent="0" algn="l">
              <a:buFont typeface="Arial" panose="020B0604020202020204" pitchFamily="34" charset="0"/>
              <a:buNone/>
            </a:pPr>
            <a:r>
              <a:rPr lang="en-IN" dirty="0">
                <a:latin typeface="Times New Roman" panose="02020603050405020304" charset="0"/>
                <a:cs typeface="Times New Roman" panose="02020603050405020304" charset="0"/>
                <a:sym typeface="+mn-ea"/>
              </a:rPr>
              <a:t>	• Inductor - 2mH ,90 turns,EE42 ferrite core</a:t>
            </a:r>
            <a:endParaRPr lang="en-IN" dirty="0">
              <a:latin typeface="Times New Roman" panose="02020603050405020304" charset="0"/>
              <a:cs typeface="Times New Roman" panose="02020603050405020304" charset="0"/>
            </a:endParaRPr>
          </a:p>
          <a:p>
            <a:pPr indent="0" algn="l">
              <a:buFont typeface="Arial" panose="020B0604020202020204" pitchFamily="34" charset="0"/>
              <a:buNone/>
            </a:pPr>
            <a:r>
              <a:rPr lang="en-IN" dirty="0">
                <a:latin typeface="Times New Roman" panose="02020603050405020304" charset="0"/>
                <a:cs typeface="Times New Roman" panose="02020603050405020304" charset="0"/>
                <a:sym typeface="+mn-ea"/>
              </a:rPr>
              <a:t>5) Capacitor</a:t>
            </a:r>
            <a:endParaRPr lang="en-IN" dirty="0">
              <a:latin typeface="Times New Roman" panose="02020603050405020304" charset="0"/>
              <a:cs typeface="Times New Roman" panose="02020603050405020304" charset="0"/>
            </a:endParaRPr>
          </a:p>
          <a:p>
            <a:pPr indent="0" algn="l">
              <a:buFont typeface="Arial" panose="020B0604020202020204" pitchFamily="34" charset="0"/>
              <a:buNone/>
            </a:pPr>
            <a:r>
              <a:rPr lang="en-IN" dirty="0">
                <a:latin typeface="Times New Roman" panose="02020603050405020304" charset="0"/>
                <a:cs typeface="Times New Roman" panose="02020603050405020304" charset="0"/>
                <a:sym typeface="+mn-ea"/>
              </a:rPr>
              <a:t>	• 220 </a:t>
            </a:r>
            <a:r>
              <a:rPr lang="el-GR" dirty="0">
                <a:latin typeface="Times New Roman" panose="02020603050405020304" charset="0"/>
                <a:cs typeface="Times New Roman" panose="02020603050405020304" charset="0"/>
                <a:sym typeface="+mn-ea"/>
              </a:rPr>
              <a:t>μ</a:t>
            </a:r>
            <a:r>
              <a:rPr lang="en-IN" dirty="0">
                <a:latin typeface="Times New Roman" panose="02020603050405020304" charset="0"/>
                <a:cs typeface="Times New Roman" panose="02020603050405020304" charset="0"/>
                <a:sym typeface="+mn-ea"/>
              </a:rPr>
              <a:t>F,250V   </a:t>
            </a:r>
            <a:endParaRPr lang="en-US" dirty="0">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pic>
        <p:nvPicPr>
          <p:cNvPr id="11" name="Content Placeholder 10"/>
          <p:cNvPicPr>
            <a:picLocks noChangeAspect="1"/>
          </p:cNvPicPr>
          <p:nvPr>
            <p:ph sz="half" idx="1"/>
          </p:nvPr>
        </p:nvPicPr>
        <p:blipFill>
          <a:blip r:embed="rId1">
            <a:extLst>
              <a:ext uri="{28A0092B-C50C-407E-A947-70E740481C1C}">
                <a14:useLocalDpi xmlns:a14="http://schemas.microsoft.com/office/drawing/2010/main" val="0"/>
              </a:ext>
            </a:extLst>
          </a:blip>
          <a:stretch>
            <a:fillRect/>
          </a:stretch>
        </p:blipFill>
        <p:spPr>
          <a:xfrm>
            <a:off x="7565390" y="1965325"/>
            <a:ext cx="1818640" cy="1705610"/>
          </a:xfrm>
          <a:prstGeom prst="rect">
            <a:avLst/>
          </a:prstGeom>
        </p:spPr>
      </p:pic>
      <p:pic>
        <p:nvPicPr>
          <p:cNvPr id="13" name="Content Placeholder 12"/>
          <p:cNvPicPr>
            <a:picLocks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900285" y="3405505"/>
            <a:ext cx="2014855" cy="1435735"/>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3645" y="4354195"/>
            <a:ext cx="3080385" cy="1868170"/>
          </a:xfrm>
          <a:prstGeom prst="rect">
            <a:avLst/>
          </a:prstGeom>
        </p:spPr>
      </p:pic>
      <p:sp>
        <p:nvSpPr>
          <p:cNvPr id="18" name="Text Box 17"/>
          <p:cNvSpPr txBox="1"/>
          <p:nvPr/>
        </p:nvSpPr>
        <p:spPr>
          <a:xfrm>
            <a:off x="7816850" y="3671570"/>
            <a:ext cx="1496060" cy="306705"/>
          </a:xfrm>
          <a:prstGeom prst="rect">
            <a:avLst/>
          </a:prstGeom>
          <a:noFill/>
        </p:spPr>
        <p:txBody>
          <a:bodyPr wrap="none" rtlCol="0">
            <a:spAutoFit/>
          </a:bodyPr>
          <a:p>
            <a:r>
              <a:rPr lang="en-IN" altLang="en-US" sz="1400">
                <a:latin typeface="Times New Roman" panose="02020603050405020304" charset="0"/>
                <a:cs typeface="Times New Roman" panose="02020603050405020304" charset="0"/>
              </a:rPr>
              <a:t>TLP250 Driver IC</a:t>
            </a:r>
            <a:endParaRPr lang="en-IN" altLang="en-US" sz="1400">
              <a:latin typeface="Times New Roman" panose="02020603050405020304" charset="0"/>
              <a:cs typeface="Times New Roman" panose="02020603050405020304" charset="0"/>
            </a:endParaRPr>
          </a:p>
        </p:txBody>
      </p:sp>
      <p:sp>
        <p:nvSpPr>
          <p:cNvPr id="19" name="Text Box 18"/>
          <p:cNvSpPr txBox="1"/>
          <p:nvPr/>
        </p:nvSpPr>
        <p:spPr>
          <a:xfrm>
            <a:off x="10505440" y="5020945"/>
            <a:ext cx="805180" cy="306705"/>
          </a:xfrm>
          <a:prstGeom prst="rect">
            <a:avLst/>
          </a:prstGeom>
          <a:noFill/>
        </p:spPr>
        <p:txBody>
          <a:bodyPr wrap="none" rtlCol="0">
            <a:spAutoFit/>
          </a:bodyPr>
          <a:p>
            <a:r>
              <a:rPr lang="en-IN" altLang="en-US" sz="1400">
                <a:latin typeface="Times New Roman" panose="02020603050405020304" charset="0"/>
                <a:cs typeface="Times New Roman" panose="02020603050405020304" charset="0"/>
              </a:rPr>
              <a:t>LM7815</a:t>
            </a:r>
            <a:endParaRPr lang="en-IN" altLang="en-US" sz="1400">
              <a:latin typeface="Times New Roman" panose="02020603050405020304" charset="0"/>
              <a:cs typeface="Times New Roman" panose="02020603050405020304" charset="0"/>
            </a:endParaRPr>
          </a:p>
        </p:txBody>
      </p:sp>
      <p:sp>
        <p:nvSpPr>
          <p:cNvPr id="20" name="Text Box 19"/>
          <p:cNvSpPr txBox="1"/>
          <p:nvPr/>
        </p:nvSpPr>
        <p:spPr>
          <a:xfrm>
            <a:off x="7430770" y="6136640"/>
            <a:ext cx="825500" cy="306705"/>
          </a:xfrm>
          <a:prstGeom prst="rect">
            <a:avLst/>
          </a:prstGeom>
          <a:noFill/>
        </p:spPr>
        <p:txBody>
          <a:bodyPr wrap="none" rtlCol="0">
            <a:spAutoFit/>
          </a:bodyPr>
          <a:p>
            <a:r>
              <a:rPr lang="en-IN" altLang="en-US" sz="1400">
                <a:latin typeface="Times New Roman" panose="02020603050405020304" charset="0"/>
                <a:cs typeface="Times New Roman" panose="02020603050405020304" charset="0"/>
              </a:rPr>
              <a:t>IRFP250</a:t>
            </a:r>
            <a:endParaRPr lang="en-IN" altLang="en-US" sz="14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latin typeface="Times New Roman" panose="02020603050405020304" charset="0"/>
                <a:cs typeface="Times New Roman" panose="02020603050405020304" charset="0"/>
                <a:sym typeface="+mn-ea"/>
              </a:rPr>
              <a:t>HARDWARE IMPLIMENTATION</a:t>
            </a:r>
            <a:endParaRPr lang="en-US"/>
          </a:p>
        </p:txBody>
      </p:sp>
      <p:sp>
        <p:nvSpPr>
          <p:cNvPr id="6" name="Text Box 5"/>
          <p:cNvSpPr txBox="1"/>
          <p:nvPr/>
        </p:nvSpPr>
        <p:spPr>
          <a:xfrm>
            <a:off x="1591945" y="1691005"/>
            <a:ext cx="3188335" cy="521970"/>
          </a:xfrm>
          <a:prstGeom prst="rect">
            <a:avLst/>
          </a:prstGeom>
          <a:noFill/>
        </p:spPr>
        <p:txBody>
          <a:bodyPr wrap="none" rtlCol="0">
            <a:spAutoFit/>
          </a:bodyPr>
          <a:p>
            <a:r>
              <a:rPr lang="en-IN" altLang="en-US" sz="2800">
                <a:latin typeface="Times New Roman" panose="02020603050405020304" charset="0"/>
                <a:cs typeface="Times New Roman" panose="02020603050405020304" charset="0"/>
              </a:rPr>
              <a:t>8) TRANSFORMER</a:t>
            </a:r>
            <a:endParaRPr lang="en-IN" altLang="en-US" sz="2800">
              <a:latin typeface="Times New Roman" panose="02020603050405020304" charset="0"/>
              <a:cs typeface="Times New Roman" panose="02020603050405020304" charset="0"/>
            </a:endParaRPr>
          </a:p>
        </p:txBody>
      </p:sp>
      <p:sp>
        <p:nvSpPr>
          <p:cNvPr id="7" name="Text Box 6"/>
          <p:cNvSpPr txBox="1"/>
          <p:nvPr/>
        </p:nvSpPr>
        <p:spPr>
          <a:xfrm>
            <a:off x="1591945" y="2475865"/>
            <a:ext cx="8272780" cy="1753235"/>
          </a:xfrm>
          <a:prstGeom prst="rect">
            <a:avLst/>
          </a:prstGeom>
          <a:noFill/>
        </p:spPr>
        <p:txBody>
          <a:bodyPr wrap="none" rtlCol="0">
            <a:spAutoFit/>
          </a:bodyPr>
          <a:p>
            <a:pPr algn="l"/>
            <a:r>
              <a:rPr lang="en-US" dirty="0">
                <a:latin typeface="Times New Roman" panose="02020603050405020304" charset="0"/>
                <a:cs typeface="Times New Roman" panose="02020603050405020304" charset="0"/>
                <a:sym typeface="+mn-ea"/>
              </a:rPr>
              <a:t>In this experimental setup we are using three transformers, which are as follows:</a:t>
            </a:r>
            <a:endParaRPr lang="en-US" dirty="0">
              <a:latin typeface="Times New Roman" panose="02020603050405020304" charset="0"/>
              <a:cs typeface="Times New Roman" panose="02020603050405020304" charset="0"/>
            </a:endParaRPr>
          </a:p>
          <a:p>
            <a:pPr algn="l"/>
            <a:r>
              <a:rPr lang="en-US" dirty="0">
                <a:latin typeface="Times New Roman" panose="02020603050405020304" charset="0"/>
                <a:cs typeface="Times New Roman" panose="02020603050405020304" charset="0"/>
                <a:sym typeface="+mn-ea"/>
              </a:rPr>
              <a:t>1) 240/15V Transformer</a:t>
            </a:r>
            <a:endParaRPr lang="en-US" dirty="0">
              <a:latin typeface="Times New Roman" panose="02020603050405020304" charset="0"/>
              <a:cs typeface="Times New Roman" panose="02020603050405020304" charset="0"/>
            </a:endParaRPr>
          </a:p>
          <a:p>
            <a:pPr algn="l"/>
            <a:r>
              <a:rPr lang="en-US" dirty="0">
                <a:latin typeface="Times New Roman" panose="02020603050405020304" charset="0"/>
                <a:cs typeface="Times New Roman" panose="02020603050405020304" charset="0"/>
                <a:sym typeface="+mn-ea"/>
              </a:rPr>
              <a:t>This transformer is used to power the driver circuit of the MOSFET,</a:t>
            </a:r>
            <a:endParaRPr lang="en-US" dirty="0">
              <a:latin typeface="Times New Roman" panose="02020603050405020304" charset="0"/>
              <a:cs typeface="Times New Roman" panose="02020603050405020304" charset="0"/>
            </a:endParaRPr>
          </a:p>
          <a:p>
            <a:pPr algn="l"/>
            <a:r>
              <a:rPr lang="en-US" dirty="0">
                <a:latin typeface="Times New Roman" panose="02020603050405020304" charset="0"/>
                <a:cs typeface="Times New Roman" panose="02020603050405020304" charset="0"/>
                <a:sym typeface="+mn-ea"/>
              </a:rPr>
              <a:t>power up the power supply unit from where the conditioned signal is fed to the Arduino,</a:t>
            </a:r>
            <a:endParaRPr lang="en-US" dirty="0">
              <a:latin typeface="Times New Roman" panose="02020603050405020304" charset="0"/>
              <a:cs typeface="Times New Roman" panose="02020603050405020304" charset="0"/>
            </a:endParaRPr>
          </a:p>
          <a:p>
            <a:pPr algn="l"/>
            <a:r>
              <a:rPr lang="en-US" dirty="0">
                <a:latin typeface="Times New Roman" panose="02020603050405020304" charset="0"/>
                <a:cs typeface="Times New Roman" panose="02020603050405020304" charset="0"/>
                <a:sym typeface="+mn-ea"/>
              </a:rPr>
              <a:t>switch circuit.</a:t>
            </a:r>
            <a:endParaRPr lang="en-US" dirty="0">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1591945" y="4229100"/>
            <a:ext cx="2882265" cy="521970"/>
          </a:xfrm>
          <a:prstGeom prst="rect">
            <a:avLst/>
          </a:prstGeom>
          <a:noFill/>
        </p:spPr>
        <p:txBody>
          <a:bodyPr wrap="none" rtlCol="0">
            <a:spAutoFit/>
          </a:bodyPr>
          <a:p>
            <a:r>
              <a:rPr lang="en-IN" altLang="en-US" sz="2800">
                <a:latin typeface="Times New Roman" panose="02020603050405020304" charset="0"/>
                <a:cs typeface="Times New Roman" panose="02020603050405020304" charset="0"/>
              </a:rPr>
              <a:t>9) BLDC MOTOR</a:t>
            </a:r>
            <a:endParaRPr lang="en-IN" altLang="en-US" sz="2800">
              <a:latin typeface="Times New Roman" panose="02020603050405020304" charset="0"/>
              <a:cs typeface="Times New Roman" panose="02020603050405020304" charset="0"/>
            </a:endParaRPr>
          </a:p>
        </p:txBody>
      </p:sp>
      <p:pic>
        <p:nvPicPr>
          <p:cNvPr id="8" name="Content Placeholder 7" descr="WhatsApp Image 2023-05-19 at 16.37.58"/>
          <p:cNvPicPr>
            <a:picLocks noChangeAspect="1"/>
          </p:cNvPicPr>
          <p:nvPr>
            <p:ph idx="1"/>
          </p:nvPr>
        </p:nvPicPr>
        <p:blipFill>
          <a:blip r:embed="rId1"/>
          <a:srcRect t="12126" r="16783" b="30074"/>
          <a:stretch>
            <a:fillRect/>
          </a:stretch>
        </p:blipFill>
        <p:spPr>
          <a:xfrm>
            <a:off x="5730240" y="3787775"/>
            <a:ext cx="2969260" cy="2781935"/>
          </a:xfrm>
          <a:prstGeom prst="rect">
            <a:avLst/>
          </a:prstGeom>
        </p:spPr>
      </p:pic>
      <p:sp>
        <p:nvSpPr>
          <p:cNvPr id="9" name="Text Box 8"/>
          <p:cNvSpPr txBox="1"/>
          <p:nvPr/>
        </p:nvSpPr>
        <p:spPr>
          <a:xfrm>
            <a:off x="2600325" y="5013960"/>
            <a:ext cx="1170940" cy="368300"/>
          </a:xfrm>
          <a:prstGeom prst="rect">
            <a:avLst/>
          </a:prstGeom>
          <a:noFill/>
        </p:spPr>
        <p:txBody>
          <a:bodyPr wrap="none" rtlCol="0">
            <a:spAutoFit/>
          </a:bodyPr>
          <a:p>
            <a:r>
              <a:rPr lang="en-IN" altLang="en-US">
                <a:latin typeface="Times New Roman" panose="02020603050405020304" charset="0"/>
                <a:cs typeface="Times New Roman" panose="02020603050405020304" charset="0"/>
              </a:rPr>
              <a:t>320W,24V</a:t>
            </a:r>
            <a:endParaRPr lang="en-IN" altLang="en-US">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IN" dirty="0">
                <a:latin typeface="Times New Roman" panose="02020603050405020304" charset="0"/>
                <a:cs typeface="Times New Roman" panose="02020603050405020304" charset="0"/>
                <a:sym typeface="+mn-ea"/>
              </a:rPr>
              <a:t>PCB LAYOUT</a:t>
            </a:r>
            <a:endParaRPr lang="en-US"/>
          </a:p>
        </p:txBody>
      </p:sp>
      <p:sp>
        <p:nvSpPr>
          <p:cNvPr id="4" name="Text Box 3"/>
          <p:cNvSpPr txBox="1"/>
          <p:nvPr/>
        </p:nvSpPr>
        <p:spPr>
          <a:xfrm>
            <a:off x="1490345" y="1691005"/>
            <a:ext cx="3349625" cy="368300"/>
          </a:xfrm>
          <a:prstGeom prst="rect">
            <a:avLst/>
          </a:prstGeom>
          <a:noFill/>
        </p:spPr>
        <p:txBody>
          <a:bodyPr wrap="none" rtlCol="0">
            <a:spAutoFit/>
          </a:bodyPr>
          <a:p>
            <a:pPr algn="l"/>
            <a:r>
              <a:rPr lang="en-IN" dirty="0">
                <a:latin typeface="Times New Roman" panose="02020603050405020304" charset="0"/>
                <a:cs typeface="Times New Roman" panose="02020603050405020304" charset="0"/>
                <a:sym typeface="+mn-ea"/>
              </a:rPr>
              <a:t>PCB LAYOUT OF CONVERTER</a:t>
            </a:r>
            <a:endParaRPr lang="en-US">
              <a:latin typeface="Times New Roman" panose="02020603050405020304" charset="0"/>
              <a:cs typeface="Times New Roman" panose="02020603050405020304" charset="0"/>
            </a:endParaRPr>
          </a:p>
        </p:txBody>
      </p:sp>
      <p:pic>
        <p:nvPicPr>
          <p:cNvPr id="5" name="Content Placeholder 4"/>
          <p:cNvPicPr>
            <a:picLocks noChangeAspect="1"/>
          </p:cNvPicPr>
          <p:nvPr>
            <p:ph idx="1"/>
          </p:nvPr>
        </p:nvPicPr>
        <p:blipFill>
          <a:blip r:embed="rId1"/>
          <a:stretch>
            <a:fillRect/>
          </a:stretch>
        </p:blipFill>
        <p:spPr>
          <a:xfrm>
            <a:off x="2225675" y="2059305"/>
            <a:ext cx="7740650" cy="441833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charset="0"/>
                <a:cs typeface="Times New Roman" panose="02020603050405020304" charset="0"/>
              </a:rPr>
              <a:t>CONTROL DIAGRAM</a:t>
            </a:r>
            <a:endParaRPr lang="en-US">
              <a:latin typeface="Times New Roman" panose="02020603050405020304" charset="0"/>
              <a:cs typeface="Times New Roman" panose="02020603050405020304" charset="0"/>
            </a:endParaRPr>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05155" y="1691005"/>
            <a:ext cx="10860405" cy="467550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latin typeface="Times New Roman" panose="02020603050405020304" charset="0"/>
                <a:cs typeface="Times New Roman" panose="02020603050405020304" charset="0"/>
              </a:rPr>
              <a:t>HARDWARE OUTPUT</a:t>
            </a:r>
            <a:endParaRPr lang="en-IN" altLang="en-US">
              <a:latin typeface="Times New Roman" panose="02020603050405020304" charset="0"/>
              <a:cs typeface="Times New Roman" panose="02020603050405020304" charset="0"/>
            </a:endParaRPr>
          </a:p>
        </p:txBody>
      </p:sp>
      <p:pic>
        <p:nvPicPr>
          <p:cNvPr id="4" name="Content Placeholder 3" descr="Hardware1"/>
          <p:cNvPicPr>
            <a:picLocks noChangeAspect="1"/>
          </p:cNvPicPr>
          <p:nvPr>
            <p:ph sz="half" idx="1"/>
          </p:nvPr>
        </p:nvPicPr>
        <p:blipFill>
          <a:blip r:embed="rId1"/>
          <a:stretch>
            <a:fillRect/>
          </a:stretch>
        </p:blipFill>
        <p:spPr>
          <a:xfrm>
            <a:off x="838200" y="2039620"/>
            <a:ext cx="4203700" cy="36531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pic>
        <p:nvPicPr>
          <p:cNvPr id="5" name="Content Placeholder 3" descr="switch pulse"/>
          <p:cNvPicPr>
            <a:picLocks noChangeAspect="1"/>
          </p:cNvPicPr>
          <p:nvPr>
            <p:ph sz="half" idx="2"/>
          </p:nvPr>
        </p:nvPicPr>
        <p:blipFill>
          <a:blip r:embed="rId2"/>
          <a:stretch>
            <a:fillRect/>
          </a:stretch>
        </p:blipFill>
        <p:spPr>
          <a:xfrm>
            <a:off x="5828030" y="2039620"/>
            <a:ext cx="4873625" cy="3655060"/>
          </a:xfrm>
          <a:prstGeom prst="rect">
            <a:avLst/>
          </a:prstGeom>
        </p:spPr>
      </p:pic>
      <p:sp>
        <p:nvSpPr>
          <p:cNvPr id="6" name="Text Box 5"/>
          <p:cNvSpPr txBox="1"/>
          <p:nvPr/>
        </p:nvSpPr>
        <p:spPr>
          <a:xfrm>
            <a:off x="7731125" y="5872480"/>
            <a:ext cx="1066800" cy="306705"/>
          </a:xfrm>
          <a:prstGeom prst="rect">
            <a:avLst/>
          </a:prstGeom>
          <a:noFill/>
        </p:spPr>
        <p:txBody>
          <a:bodyPr wrap="none" rtlCol="0">
            <a:spAutoFit/>
          </a:bodyPr>
          <a:p>
            <a:r>
              <a:rPr lang="en-IN" altLang="en-US" sz="1400">
                <a:latin typeface="Times New Roman" panose="02020603050405020304" charset="0"/>
                <a:cs typeface="Times New Roman" panose="02020603050405020304" charset="0"/>
              </a:rPr>
              <a:t>switch pulse</a:t>
            </a:r>
            <a:endParaRPr lang="en-IN" altLang="en-US" sz="1400">
              <a:latin typeface="Times New Roman" panose="02020603050405020304" charset="0"/>
              <a:cs typeface="Times New Roman"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60020"/>
            <a:ext cx="10515600" cy="1325563"/>
          </a:xfrm>
        </p:spPr>
        <p:txBody>
          <a:bodyPr/>
          <a:p>
            <a:pPr algn="ctr"/>
            <a:r>
              <a:rPr lang="en-IN" altLang="en-US">
                <a:latin typeface="Times New Roman" panose="02020603050405020304" charset="0"/>
                <a:cs typeface="Times New Roman" panose="02020603050405020304" charset="0"/>
              </a:rPr>
              <a:t>HARDWARE OUTPUT</a:t>
            </a:r>
            <a:endParaRPr lang="en-IN" altLang="en-US">
              <a:latin typeface="Times New Roman" panose="02020603050405020304" charset="0"/>
              <a:cs typeface="Times New Roman" panose="02020603050405020304" charset="0"/>
            </a:endParaRPr>
          </a:p>
        </p:txBody>
      </p:sp>
      <p:pic>
        <p:nvPicPr>
          <p:cNvPr id="4" name="Content Placeholder 3" descr="output voltage dc"/>
          <p:cNvPicPr>
            <a:picLocks noChangeAspect="1"/>
          </p:cNvPicPr>
          <p:nvPr>
            <p:ph sz="half" idx="1"/>
          </p:nvPr>
        </p:nvPicPr>
        <p:blipFill>
          <a:blip r:embed="rId1"/>
          <a:stretch>
            <a:fillRect/>
          </a:stretch>
        </p:blipFill>
        <p:spPr>
          <a:xfrm>
            <a:off x="772795" y="1485900"/>
            <a:ext cx="5181600" cy="3886200"/>
          </a:xfrm>
          <a:prstGeom prst="rect">
            <a:avLst/>
          </a:prstGeom>
        </p:spPr>
      </p:pic>
      <p:sp>
        <p:nvSpPr>
          <p:cNvPr id="5" name="Text Box 4"/>
          <p:cNvSpPr txBox="1"/>
          <p:nvPr/>
        </p:nvSpPr>
        <p:spPr>
          <a:xfrm>
            <a:off x="1917700" y="5523865"/>
            <a:ext cx="2678430" cy="337185"/>
          </a:xfrm>
          <a:prstGeom prst="rect">
            <a:avLst/>
          </a:prstGeom>
          <a:noFill/>
        </p:spPr>
        <p:txBody>
          <a:bodyPr wrap="none" rtlCol="0">
            <a:spAutoFit/>
          </a:bodyPr>
          <a:p>
            <a:r>
              <a:rPr lang="en-IN" altLang="en-US" sz="1600">
                <a:latin typeface="Times New Roman" panose="02020603050405020304" charset="0"/>
                <a:cs typeface="Times New Roman" panose="02020603050405020304" charset="0"/>
              </a:rPr>
              <a:t>Output voltage (to bldc motor)</a:t>
            </a:r>
            <a:endParaRPr lang="en-IN" altLang="en-US" sz="160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pic>
        <p:nvPicPr>
          <p:cNvPr id="6" name="Content Placeholder 3" descr="regeneration"/>
          <p:cNvPicPr>
            <a:picLocks noChangeAspect="1"/>
          </p:cNvPicPr>
          <p:nvPr>
            <p:ph sz="half" idx="2"/>
          </p:nvPr>
        </p:nvPicPr>
        <p:blipFill>
          <a:blip r:embed="rId2"/>
          <a:stretch>
            <a:fillRect/>
          </a:stretch>
        </p:blipFill>
        <p:spPr>
          <a:xfrm>
            <a:off x="6172200" y="1485900"/>
            <a:ext cx="5181600" cy="3886200"/>
          </a:xfrm>
          <a:prstGeom prst="rect">
            <a:avLst/>
          </a:prstGeom>
        </p:spPr>
      </p:pic>
      <p:sp>
        <p:nvSpPr>
          <p:cNvPr id="7" name="Text Box 6"/>
          <p:cNvSpPr txBox="1"/>
          <p:nvPr/>
        </p:nvSpPr>
        <p:spPr>
          <a:xfrm>
            <a:off x="7849870" y="5523865"/>
            <a:ext cx="1825625" cy="337185"/>
          </a:xfrm>
          <a:prstGeom prst="rect">
            <a:avLst/>
          </a:prstGeom>
          <a:noFill/>
        </p:spPr>
        <p:txBody>
          <a:bodyPr wrap="none" rtlCol="0">
            <a:spAutoFit/>
          </a:bodyPr>
          <a:p>
            <a:r>
              <a:rPr lang="en-IN" altLang="en-US" sz="1600">
                <a:latin typeface="Times New Roman" panose="02020603050405020304" charset="0"/>
                <a:cs typeface="Times New Roman" panose="02020603050405020304" charset="0"/>
              </a:rPr>
              <a:t>regeneration current</a:t>
            </a:r>
            <a:endParaRPr lang="en-IN" altLang="en-US" sz="1600">
              <a:latin typeface="Times New Roman" panose="02020603050405020304" charset="0"/>
              <a:cs typeface="Times New Roman"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06120" y="70485"/>
            <a:ext cx="10515600" cy="1022350"/>
          </a:xfrm>
        </p:spPr>
        <p:txBody>
          <a:bodyPr/>
          <a:p>
            <a:pPr algn="ctr"/>
            <a:r>
              <a:rPr lang="en-US" sz="4000">
                <a:latin typeface="Times New Roman" panose="02020603050405020304" charset="0"/>
                <a:cs typeface="Times New Roman" panose="02020603050405020304" charset="0"/>
              </a:rPr>
              <a:t>ESTIMATE</a:t>
            </a:r>
            <a:endParaRPr lang="en-US" sz="4000">
              <a:latin typeface="Times New Roman" panose="02020603050405020304" charset="0"/>
              <a:cs typeface="Times New Roman" panose="02020603050405020304" charset="0"/>
            </a:endParaRPr>
          </a:p>
        </p:txBody>
      </p:sp>
      <p:pic>
        <p:nvPicPr>
          <p:cNvPr id="6" name="Content Placeholder 5"/>
          <p:cNvPicPr>
            <a:picLocks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706120" y="914400"/>
            <a:ext cx="10259060" cy="5471160"/>
          </a:xfrm>
          <a:prstGeom prst="rect">
            <a:avLst/>
          </a:prstGeom>
        </p:spPr>
      </p:pic>
      <p:sp>
        <p:nvSpPr>
          <p:cNvPr id="4" name="Text Box 3"/>
          <p:cNvSpPr txBox="1"/>
          <p:nvPr/>
        </p:nvSpPr>
        <p:spPr>
          <a:xfrm>
            <a:off x="3905250" y="6323965"/>
            <a:ext cx="4116705" cy="368300"/>
          </a:xfrm>
          <a:prstGeom prst="rect">
            <a:avLst/>
          </a:prstGeom>
          <a:noFill/>
        </p:spPr>
        <p:txBody>
          <a:bodyPr wrap="none" rtlCol="0">
            <a:spAutoFit/>
          </a:bodyPr>
          <a:p>
            <a:r>
              <a:rPr lang="en-US"/>
              <a:t>Total estimated cost is around Rs. 30,000/-</a:t>
            </a:r>
            <a:endParaRPr lang="en-US"/>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000">
                <a:latin typeface="Times New Roman" panose="02020603050405020304" charset="0"/>
                <a:cs typeface="Times New Roman" panose="02020603050405020304" charset="0"/>
              </a:rPr>
              <a:t>ADVANTAGES</a:t>
            </a:r>
            <a:r>
              <a:rPr lang="en-US"/>
              <a:t> </a:t>
            </a:r>
            <a:endParaRPr lang="en-US"/>
          </a:p>
        </p:txBody>
      </p:sp>
      <p:sp>
        <p:nvSpPr>
          <p:cNvPr id="3" name="Content Placeholder 2"/>
          <p:cNvSpPr>
            <a:spLocks noGrp="1"/>
          </p:cNvSpPr>
          <p:nvPr>
            <p:ph idx="1"/>
          </p:nvPr>
        </p:nvSpPr>
        <p:spPr/>
        <p:txBody>
          <a:bodyPr/>
          <a:p>
            <a:r>
              <a:rPr lang="en-US">
                <a:latin typeface="Times New Roman" panose="02020603050405020304" charset="0"/>
                <a:cs typeface="Times New Roman" panose="02020603050405020304" charset="0"/>
              </a:rPr>
              <a:t>Extends range</a:t>
            </a:r>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Reduction of Pollution </a:t>
            </a:r>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Improves the efficiency of braking </a:t>
            </a:r>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It reduces wear </a:t>
            </a:r>
            <a:endParaRPr lang="en-US">
              <a:latin typeface="Times New Roman" panose="02020603050405020304" charset="0"/>
              <a:cs typeface="Times New Roman" panose="02020603050405020304" charset="0"/>
            </a:endParaRPr>
          </a:p>
          <a:p>
            <a:pPr marL="0" indent="0">
              <a:buNone/>
            </a:pPr>
            <a:endParaRPr lang="en-US"/>
          </a:p>
          <a:p>
            <a:pPr marL="0" indent="0">
              <a:buNone/>
            </a:pP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4000">
                <a:latin typeface="Times New Roman" panose="02020603050405020304" charset="0"/>
                <a:cs typeface="Times New Roman" panose="02020603050405020304" charset="0"/>
              </a:rPr>
              <a:t>APPLICATIONS</a:t>
            </a:r>
            <a:endParaRPr lang="en-IN" altLang="en-US" sz="4000">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lgn="ctr">
              <a:buNone/>
            </a:pPr>
            <a:r>
              <a:rPr lang="en-US">
                <a:latin typeface="Times New Roman" panose="02020603050405020304" charset="0"/>
                <a:cs typeface="Times New Roman" panose="02020603050405020304" charset="0"/>
              </a:rPr>
              <a:t>This mechanism retrieves some of the energy that’s lost during braking and in return uses the energy as a mechanism to recharge the battery and thereby improve not just the efficiency but also increases the range as battery regeneration and storage gives a pathway for introducing larger batteries for greater range without increasing the time required for charging.</a:t>
            </a:r>
            <a:endParaRPr lang="en-US">
              <a:latin typeface="Times New Roman" panose="02020603050405020304" charset="0"/>
              <a:cs typeface="Times New Roman" panose="02020603050405020304" charset="0"/>
            </a:endParaRPr>
          </a:p>
          <a:p>
            <a:pPr marL="0" indent="0">
              <a:buNone/>
            </a:pP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000">
                <a:latin typeface="Times New Roman" panose="02020603050405020304" charset="0"/>
                <a:cs typeface="Times New Roman" panose="02020603050405020304" charset="0"/>
              </a:rPr>
              <a:t>REFERNCES</a:t>
            </a:r>
            <a:endParaRPr lang="en-US" sz="40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551940"/>
            <a:ext cx="10515600" cy="4655185"/>
          </a:xfrm>
        </p:spPr>
        <p:txBody>
          <a:bodyPr>
            <a:normAutofit lnSpcReduction="10000"/>
          </a:bodyPr>
          <a:p>
            <a:r>
              <a:rPr lang="en-IN" sz="2400" dirty="0">
                <a:latin typeface="Times New Roman" panose="02020603050405020304" charset="0"/>
                <a:sym typeface="+mn-ea"/>
              </a:rPr>
              <a:t>S. K. </a:t>
            </a:r>
            <a:r>
              <a:rPr lang="en-IN" sz="2400" dirty="0" err="1">
                <a:latin typeface="Times New Roman" panose="02020603050405020304" charset="0"/>
                <a:sym typeface="+mn-ea"/>
              </a:rPr>
              <a:t>Haghighian</a:t>
            </a:r>
            <a:r>
              <a:rPr lang="en-IN" sz="2400" dirty="0">
                <a:latin typeface="Times New Roman" panose="02020603050405020304" charset="0"/>
                <a:sym typeface="+mn-ea"/>
              </a:rPr>
              <a:t>, S. </a:t>
            </a:r>
            <a:r>
              <a:rPr lang="en-IN" sz="2400" dirty="0" err="1">
                <a:latin typeface="Times New Roman" panose="02020603050405020304" charset="0"/>
                <a:sym typeface="+mn-ea"/>
              </a:rPr>
              <a:t>Tohidi</a:t>
            </a:r>
            <a:r>
              <a:rPr lang="en-IN" sz="2400" dirty="0">
                <a:latin typeface="Times New Roman" panose="02020603050405020304" charset="0"/>
                <a:sym typeface="+mn-ea"/>
              </a:rPr>
              <a:t>, M. R. </a:t>
            </a:r>
            <a:r>
              <a:rPr lang="en-IN" sz="2400" dirty="0" err="1">
                <a:latin typeface="Times New Roman" panose="02020603050405020304" charset="0"/>
                <a:sym typeface="+mn-ea"/>
              </a:rPr>
              <a:t>Feyzi</a:t>
            </a:r>
            <a:r>
              <a:rPr lang="en-IN" sz="2400" dirty="0">
                <a:latin typeface="Times New Roman" panose="02020603050405020304" charset="0"/>
                <a:sym typeface="+mn-ea"/>
              </a:rPr>
              <a:t>, and M. </a:t>
            </a:r>
            <a:r>
              <a:rPr lang="en-IN" sz="2400" dirty="0" err="1">
                <a:latin typeface="Times New Roman" panose="02020603050405020304" charset="0"/>
                <a:sym typeface="+mn-ea"/>
              </a:rPr>
              <a:t>Sabahi</a:t>
            </a:r>
            <a:r>
              <a:rPr lang="en-IN" sz="2400" dirty="0">
                <a:latin typeface="Times New Roman" panose="02020603050405020304" charset="0"/>
                <a:sym typeface="+mn-ea"/>
              </a:rPr>
              <a:t>, “Design and analysis of a novel SEPIC-based multi-input DC/DC converter,” IET Power Electron., vol. 10, no. 12, pp. 1393–1402, 2017.</a:t>
            </a:r>
            <a:endParaRPr lang="en-US" sz="2400">
              <a:latin typeface="Times New Roman" panose="02020603050405020304" charset="0"/>
              <a:cs typeface="Times New Roman" panose="02020603050405020304" charset="0"/>
            </a:endParaRPr>
          </a:p>
          <a:p>
            <a:r>
              <a:rPr lang="en-US" sz="2400" dirty="0">
                <a:latin typeface="Times New Roman" panose="02020603050405020304" charset="0"/>
                <a:sym typeface="+mn-ea"/>
              </a:rPr>
              <a:t>M. </a:t>
            </a:r>
            <a:r>
              <a:rPr lang="en-US" sz="2400" dirty="0" err="1">
                <a:latin typeface="Times New Roman" panose="02020603050405020304" charset="0"/>
                <a:sym typeface="+mn-ea"/>
              </a:rPr>
              <a:t>Zandi</a:t>
            </a:r>
            <a:r>
              <a:rPr lang="en-US" sz="2400" dirty="0">
                <a:latin typeface="Times New Roman" panose="02020603050405020304" charset="0"/>
                <a:sym typeface="+mn-ea"/>
              </a:rPr>
              <a:t>, A. </a:t>
            </a:r>
            <a:r>
              <a:rPr lang="en-US" sz="2400" dirty="0" err="1">
                <a:latin typeface="Times New Roman" panose="02020603050405020304" charset="0"/>
                <a:sym typeface="+mn-ea"/>
              </a:rPr>
              <a:t>Payman</a:t>
            </a:r>
            <a:r>
              <a:rPr lang="en-US" sz="2400" dirty="0">
                <a:latin typeface="Times New Roman" panose="02020603050405020304" charset="0"/>
                <a:sym typeface="+mn-ea"/>
              </a:rPr>
              <a:t>, J. P. Martin, S. </a:t>
            </a:r>
            <a:r>
              <a:rPr lang="en-US" sz="2400" dirty="0" err="1">
                <a:latin typeface="Times New Roman" panose="02020603050405020304" charset="0"/>
                <a:sym typeface="+mn-ea"/>
              </a:rPr>
              <a:t>Pierfederici</a:t>
            </a:r>
            <a:r>
              <a:rPr lang="en-US" sz="2400" dirty="0">
                <a:latin typeface="Times New Roman" panose="02020603050405020304" charset="0"/>
                <a:sym typeface="+mn-ea"/>
              </a:rPr>
              <a:t>, B. </a:t>
            </a:r>
            <a:r>
              <a:rPr lang="en-US" sz="2400" dirty="0" err="1">
                <a:latin typeface="Times New Roman" panose="02020603050405020304" charset="0"/>
                <a:sym typeface="+mn-ea"/>
              </a:rPr>
              <a:t>Davat</a:t>
            </a:r>
            <a:r>
              <a:rPr lang="en-US" sz="2400" dirty="0">
                <a:latin typeface="Times New Roman" panose="02020603050405020304" charset="0"/>
                <a:sym typeface="+mn-ea"/>
              </a:rPr>
              <a:t>, and </a:t>
            </a:r>
            <a:r>
              <a:rPr lang="en-US" sz="2400" dirty="0" err="1">
                <a:latin typeface="Times New Roman" panose="02020603050405020304" charset="0"/>
                <a:sym typeface="+mn-ea"/>
              </a:rPr>
              <a:t>F.Meibody</a:t>
            </a:r>
            <a:r>
              <a:rPr lang="en-IN" sz="2400" dirty="0">
                <a:latin typeface="Times New Roman" panose="02020603050405020304" charset="0"/>
                <a:sym typeface="+mn-ea"/>
              </a:rPr>
              <a:t> </a:t>
            </a:r>
            <a:r>
              <a:rPr lang="en-US" sz="2400" dirty="0" err="1">
                <a:latin typeface="Times New Roman" panose="02020603050405020304" charset="0"/>
                <a:sym typeface="+mn-ea"/>
              </a:rPr>
              <a:t>Tabar</a:t>
            </a:r>
            <a:r>
              <a:rPr lang="en-US" sz="2400" dirty="0">
                <a:latin typeface="Times New Roman" panose="02020603050405020304" charset="0"/>
                <a:sym typeface="+mn-ea"/>
              </a:rPr>
              <a:t>,</a:t>
            </a:r>
            <a:r>
              <a:rPr lang="en-IN" sz="2400" dirty="0">
                <a:latin typeface="Times New Roman" panose="02020603050405020304" charset="0"/>
                <a:sym typeface="+mn-ea"/>
              </a:rPr>
              <a:t> </a:t>
            </a:r>
            <a:r>
              <a:rPr lang="en-US" sz="2400" dirty="0">
                <a:latin typeface="Times New Roman" panose="02020603050405020304" charset="0"/>
                <a:sym typeface="+mn-ea"/>
              </a:rPr>
              <a:t>“</a:t>
            </a:r>
            <a:r>
              <a:rPr lang="en-US" sz="2400" dirty="0" err="1">
                <a:latin typeface="Times New Roman" panose="02020603050405020304" charset="0"/>
                <a:sym typeface="+mn-ea"/>
              </a:rPr>
              <a:t>Energymanagementof</a:t>
            </a:r>
            <a:r>
              <a:rPr lang="en-US" sz="2400" dirty="0">
                <a:latin typeface="Times New Roman" panose="02020603050405020304" charset="0"/>
                <a:sym typeface="+mn-ea"/>
              </a:rPr>
              <a:t> a fuel cell/</a:t>
            </a:r>
            <a:r>
              <a:rPr lang="en-US" sz="2400" dirty="0" err="1">
                <a:latin typeface="Times New Roman" panose="02020603050405020304" charset="0"/>
                <a:sym typeface="+mn-ea"/>
              </a:rPr>
              <a:t>supercapacitor</a:t>
            </a:r>
            <a:r>
              <a:rPr lang="en-US" sz="2400" dirty="0">
                <a:latin typeface="Times New Roman" panose="02020603050405020304" charset="0"/>
                <a:sym typeface="+mn-ea"/>
              </a:rPr>
              <a:t>/battery power source for electric vehicular applications,” IEEE Trans. </a:t>
            </a:r>
            <a:r>
              <a:rPr lang="en-US" sz="2400" dirty="0" err="1">
                <a:latin typeface="Times New Roman" panose="02020603050405020304" charset="0"/>
                <a:sym typeface="+mn-ea"/>
              </a:rPr>
              <a:t>Veh</a:t>
            </a:r>
            <a:r>
              <a:rPr lang="en-US" sz="2400" dirty="0">
                <a:latin typeface="Times New Roman" panose="02020603050405020304" charset="0"/>
                <a:sym typeface="+mn-ea"/>
              </a:rPr>
              <a:t>. Technol., vol. 60, no. 2, pp. 433–443, 2011</a:t>
            </a:r>
            <a:endParaRPr lang="en-US" sz="2400" dirty="0">
              <a:latin typeface="Times New Roman" panose="02020603050405020304" charset="0"/>
              <a:sym typeface="+mn-ea"/>
            </a:endParaRPr>
          </a:p>
          <a:p>
            <a:r>
              <a:rPr lang="en-US" sz="2400" dirty="0">
                <a:latin typeface="Times New Roman" panose="02020603050405020304" charset="0"/>
                <a:cs typeface="Times New Roman" panose="02020603050405020304" charset="0"/>
                <a:sym typeface="+mn-ea"/>
              </a:rPr>
              <a:t>T. K. Santhosh and C. </a:t>
            </a:r>
            <a:r>
              <a:rPr lang="en-US" sz="2400" dirty="0" err="1">
                <a:latin typeface="Times New Roman" panose="02020603050405020304" charset="0"/>
                <a:cs typeface="Times New Roman" panose="02020603050405020304" charset="0"/>
                <a:sym typeface="+mn-ea"/>
              </a:rPr>
              <a:t>Govindaraju</a:t>
            </a:r>
            <a:r>
              <a:rPr lang="en-US" sz="2400" dirty="0">
                <a:latin typeface="Times New Roman" panose="02020603050405020304" charset="0"/>
                <a:cs typeface="Times New Roman" panose="02020603050405020304" charset="0"/>
                <a:sym typeface="+mn-ea"/>
              </a:rPr>
              <a:t>, “Dual input dual output power converter with one-step-ahead control for hybrid electric vehicle applications,” IET </a:t>
            </a:r>
            <a:r>
              <a:rPr lang="en-US" sz="2400" dirty="0" err="1">
                <a:latin typeface="Times New Roman" panose="02020603050405020304" charset="0"/>
                <a:cs typeface="Times New Roman" panose="02020603050405020304" charset="0"/>
                <a:sym typeface="+mn-ea"/>
              </a:rPr>
              <a:t>Electr</a:t>
            </a:r>
            <a:r>
              <a:rPr lang="en-US" sz="2400" dirty="0">
                <a:latin typeface="Times New Roman" panose="02020603050405020304" charset="0"/>
                <a:cs typeface="Times New Roman" panose="02020603050405020304" charset="0"/>
                <a:sym typeface="+mn-ea"/>
              </a:rPr>
              <a:t>. Syst. Transp., vol. 7, no. 3, pp. 190–200, 2017.</a:t>
            </a:r>
            <a:endParaRPr lang="en-US" sz="2400" b="0">
              <a:solidFill>
                <a:schemeClr val="tx1"/>
              </a:solidFill>
              <a:latin typeface="Times New Roman" panose="02020603050405020304" charset="0"/>
              <a:cs typeface="Times New Roman" panose="02020603050405020304" charset="0"/>
            </a:endParaRPr>
          </a:p>
          <a:p>
            <a:r>
              <a:rPr lang="en-US" sz="2400" dirty="0">
                <a:latin typeface="Times New Roman" panose="02020603050405020304" charset="0"/>
                <a:sym typeface="+mn-ea"/>
              </a:rPr>
              <a:t>D. Yang, M. Yang, and X. </a:t>
            </a:r>
            <a:r>
              <a:rPr lang="en-US" sz="2400" dirty="0" err="1">
                <a:latin typeface="Times New Roman" panose="02020603050405020304" charset="0"/>
                <a:sym typeface="+mn-ea"/>
              </a:rPr>
              <a:t>Ruan</a:t>
            </a:r>
            <a:r>
              <a:rPr lang="en-US" sz="2400" dirty="0">
                <a:latin typeface="Times New Roman" panose="02020603050405020304" charset="0"/>
                <a:sym typeface="+mn-ea"/>
              </a:rPr>
              <a:t>, “One-cycle control for a double-input DC/DC converter,” IEEE Trans. Power Electron., vol. 27, no. 11, pp. 4646–4655, 2012.</a:t>
            </a:r>
            <a:endParaRPr lang="en-IN" sz="2400" dirty="0"/>
          </a:p>
          <a:p>
            <a:endParaRPr lang="en-US"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9474</Words>
  <Application>WPS Presentation</Application>
  <PresentationFormat>Widescreen</PresentationFormat>
  <Paragraphs>443</Paragraphs>
  <Slides>36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36</vt:i4>
      </vt:variant>
    </vt:vector>
  </HeadingPairs>
  <TitlesOfParts>
    <vt:vector size="45" baseType="lpstr">
      <vt:lpstr>Arial</vt:lpstr>
      <vt:lpstr>SimSun</vt:lpstr>
      <vt:lpstr>Wingdings</vt:lpstr>
      <vt:lpstr>Times New Roman</vt:lpstr>
      <vt:lpstr>Calibri</vt:lpstr>
      <vt:lpstr>Calibri Light</vt:lpstr>
      <vt:lpstr>Microsoft YaHei</vt:lpstr>
      <vt:lpstr>Arial Unicode MS</vt:lpstr>
      <vt:lpstr>Office Theme</vt:lpstr>
      <vt:lpstr>DUAL INPUT NON ISOLATED DC DC CONVERTER WITH VEHICLE TO GRID FEATURE </vt:lpstr>
      <vt:lpstr>CONTENTS</vt:lpstr>
      <vt:lpstr>INTRODUCTION </vt:lpstr>
      <vt:lpstr>LITERATURE REVIEW </vt:lpstr>
      <vt:lpstr>LITERATURE REVIEW</vt:lpstr>
      <vt:lpstr>OBJECTIVIES</vt:lpstr>
      <vt:lpstr>EXISTING SYSTEM</vt:lpstr>
      <vt:lpstr>PROPOSED SYSTEM</vt:lpstr>
      <vt:lpstr>PROPOSED SYSTEM</vt:lpstr>
      <vt:lpstr>EXISTING SYSTEM</vt:lpstr>
      <vt:lpstr>PROPOSED SYSTEM</vt:lpstr>
      <vt:lpstr>COMPONENT DESIGN</vt:lpstr>
      <vt:lpstr>COMPONENT DESIGN</vt:lpstr>
      <vt:lpstr>SIMULINK MODEL</vt:lpstr>
      <vt:lpstr>SIMULATION RESULTS</vt:lpstr>
      <vt:lpstr>SIMULATION RESULTS </vt:lpstr>
      <vt:lpstr>SIMULATION RESULTS</vt:lpstr>
      <vt:lpstr>SIMULATION RESULTS</vt:lpstr>
      <vt:lpstr>SIMULATION RESULTS</vt:lpstr>
      <vt:lpstr>SIMULATION RESULTS</vt:lpstr>
      <vt:lpstr>HARDWARE IMPLIMENTATION</vt:lpstr>
      <vt:lpstr>HARDWARE IMPLIMENTATION</vt:lpstr>
      <vt:lpstr>HARDWARE IMPLIMENTATION</vt:lpstr>
      <vt:lpstr>HARDWARE IMPLIMENTATION</vt:lpstr>
      <vt:lpstr>HARDWARE IMPLIMENTATION</vt:lpstr>
      <vt:lpstr>HARDWARE IMPLIMENTATION</vt:lpstr>
      <vt:lpstr>HARDWARE IMPLIMENTATION</vt:lpstr>
      <vt:lpstr>HARDWARE IMPLIMENTATION</vt:lpstr>
      <vt:lpstr>PCB LAYOUT</vt:lpstr>
      <vt:lpstr>CONTROL DIAGRAM</vt:lpstr>
      <vt:lpstr>HARDWARE OUTPUT</vt:lpstr>
      <vt:lpstr>HARDWARE OUTPUT</vt:lpstr>
      <vt:lpstr>ESTIMATE</vt:lpstr>
      <vt:lpstr>ADVANTAGES </vt:lpstr>
      <vt:lpstr>APPLICATIONS</vt:lpstr>
      <vt:lpstr>REFERNCES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DUAL INPUT NON ISOLATED DC DC CONVERTER WITH VEHICLE TO GRID FEATURE </dc:title>
  <dc:creator/>
  <cp:lastModifiedBy>Muhammed Aslam</cp:lastModifiedBy>
  <cp:revision>41</cp:revision>
  <dcterms:created xsi:type="dcterms:W3CDTF">2023-01-03T17:30:00Z</dcterms:created>
  <dcterms:modified xsi:type="dcterms:W3CDTF">2023-06-21T14:32:53Z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349DDACC39FE4E5298A81A591B7B43AF</vt:lpwstr>
  </property>
  <property fmtid="{D5CDD505-2E9C-101B-9397-08002B2CF9AE}" pid="3" name="KSOProductBuildVer">
    <vt:lpwstr>1033-11.2.0.11388</vt:lpwstr>
  </property>
</Properties>
</file>